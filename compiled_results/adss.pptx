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99" r:id="rId3"/>
    <p:sldId id="276" r:id="rId4"/>
    <p:sldId id="307" r:id="rId5"/>
    <p:sldId id="309" r:id="rId6"/>
    <p:sldId id="261" r:id="rId7"/>
    <p:sldId id="306" r:id="rId8"/>
    <p:sldId id="265" r:id="rId9"/>
    <p:sldId id="308" r:id="rId10"/>
    <p:sldId id="270" r:id="rId11"/>
    <p:sldId id="275" r:id="rId12"/>
    <p:sldId id="287" r:id="rId13"/>
    <p:sldId id="288" r:id="rId14"/>
    <p:sldId id="266" r:id="rId15"/>
    <p:sldId id="289" r:id="rId16"/>
    <p:sldId id="302" r:id="rId17"/>
    <p:sldId id="303" r:id="rId18"/>
    <p:sldId id="285" r:id="rId19"/>
    <p:sldId id="300" r:id="rId20"/>
    <p:sldId id="274" r:id="rId21"/>
    <p:sldId id="273" r:id="rId22"/>
    <p:sldId id="271" r:id="rId23"/>
    <p:sldId id="272" r:id="rId24"/>
    <p:sldId id="282" r:id="rId25"/>
    <p:sldId id="278" r:id="rId26"/>
    <p:sldId id="294" r:id="rId27"/>
    <p:sldId id="296" r:id="rId28"/>
    <p:sldId id="295" r:id="rId29"/>
    <p:sldId id="259" r:id="rId30"/>
    <p:sldId id="264" r:id="rId31"/>
    <p:sldId id="310" r:id="rId32"/>
    <p:sldId id="311" r:id="rId33"/>
    <p:sldId id="313" r:id="rId34"/>
    <p:sldId id="314" r:id="rId35"/>
    <p:sldId id="315" r:id="rId36"/>
    <p:sldId id="316" r:id="rId37"/>
    <p:sldId id="318" r:id="rId38"/>
    <p:sldId id="319" r:id="rId39"/>
    <p:sldId id="317" r:id="rId40"/>
    <p:sldId id="29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A3A6C7-9BD6-8A41-4577-8F6BE1A8B538}" name="Ruba Emran" initials="RE" userId="S::rubaiyae@mit.edu::6ea70793-08cb-4bb5-8698-8f0c692d26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19"/>
  </p:normalViewPr>
  <p:slideViewPr>
    <p:cSldViewPr snapToGrid="0">
      <p:cViewPr varScale="1">
        <p:scale>
          <a:sx n="93" d="100"/>
          <a:sy n="93" d="100"/>
        </p:scale>
        <p:origin x="24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D4D20-FD35-0543-B2EF-0D10DCA29F5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CC834-22C2-9D44-A3F0-88913BA35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0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7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53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75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14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1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14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8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65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CC834-22C2-9D44-A3F0-88913BA3597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41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5BEE-C57F-8E6F-2402-7747414AE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B7B0F-480F-8D43-249D-8BF68A446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8A1C-65DA-400D-B7D8-7E660A70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57946-29AC-A6A2-AC68-955F3393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1620-7242-D6EA-7427-5CF79C4B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B90F-FBF2-6F73-A4F1-CC893017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44B53-570C-0854-4687-895563E0D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891D-3D80-0CC7-32AB-C4CC9C77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9C9C5-14EF-8960-5254-F4FD3D73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6A980-CE2E-913B-0B37-A9EFC737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7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4E4C-71E8-8B16-77AF-2A7F2F8E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14659-798D-2D23-867F-CF9FDD54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BF0AE-D2CB-8744-D841-30B9BACB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FB436-EB49-5056-805E-AAF0BBB8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9C035-1435-9C0B-6E18-E0F8D3D2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4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3F80-F520-E1D5-D119-3674A1EF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2E3D-CEFF-00F8-A84F-866AA05EE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B18BB-E982-9CA6-0CDC-A6AD2BC63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92CBA-406E-84B3-D572-C319AD70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F5877-4B25-D7B0-5C59-E9D3CE73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0D6A1-2402-55B3-BA2B-748A7408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8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8040-3251-CC31-8AA0-33182AFA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47006-3D5A-6EE4-7327-C66CB8E15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7344-B0D5-9178-4134-EC3EE82AA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5AC9A-E5B0-5606-12C1-CE3524DCA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CFA36-7A05-CE8D-EBA5-2987D1080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868B3-1325-C948-8561-780043D2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95073-AFC9-3778-5AF5-6C18F0C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D2FBD-5153-784E-2553-82ECBDC7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7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2883-B542-79E7-A813-4793973D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690CA-BCE8-5EF5-118F-54099620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F674C-086F-1312-2D7B-20256F10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A05EF-F3F4-5765-A964-097B4C8F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4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7A843-8F56-B3D5-7C2D-1C49D575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E1FC5-20A6-9A4F-7C50-BB7317B7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505D9-E658-0417-13DE-54425DF1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1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69F3-BF40-BA7A-B2B2-5A9722A16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C2A7B-DB9D-9A25-B172-ED1C9C0B8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9797B-0269-121B-CF25-DA527DDB1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C2913-B704-8BF3-3E98-2E97CF66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D8F2F-6D32-F355-4D4D-A28BEC74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F2F80-3A7F-3489-136C-100DD03E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7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00BF-F8FF-3929-9BA7-676CFC9FE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AA968-9549-81B6-4616-C93E6EBDD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4A858-C3AD-755B-35EA-6500EEA42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454C3-1124-5E47-FEDB-68C48055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625B6-8DFC-390B-0BBF-41E411AD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9E0AC-1122-5E74-8851-0E5CDC7C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7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65A42-560F-123A-022D-99A113DF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D6ED4-39E6-56B2-003A-51B955654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8C613-BF39-2109-224E-D4E5F6EF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7896-F00E-9061-DA0D-C820AB1A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0DF1C-DA3C-6610-E131-6DC43987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1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06440-B808-414D-D5CC-38EB5DBF7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53DAF-5087-EE2F-CE6D-1AA438E50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D5AB-8E2A-E170-52C2-9C3F6D93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D97D-A5FB-AFB7-1453-BB9CC79E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82E2-D390-7661-9F6E-218E738D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0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78A071-6739-9028-D505-D1778819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F1C2-C3DB-D478-3B8A-56AF1684D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E287-9C44-041F-E1BA-854C17183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6BF1B-89E7-D846-8398-0FC04E9BA8E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B532F-C744-3B8E-3F36-4BDC22A0E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85F83-9DE4-7F33-545B-C30425DF9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788FC-4828-1B4F-AF6D-9639E0366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0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gif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gi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9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1.png"/><Relationship Id="rId4" Type="http://schemas.openxmlformats.org/officeDocument/2006/relationships/image" Target="../media/image1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3.png"/><Relationship Id="rId7" Type="http://schemas.openxmlformats.org/officeDocument/2006/relationships/image" Target="../media/image12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C969-90C1-82DA-5E9E-F49BDB24D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Droplets and </a:t>
            </a:r>
            <a:r>
              <a:rPr lang="en-US" dirty="0" err="1"/>
              <a:t>supersolids</a:t>
            </a:r>
            <a:r>
              <a:rPr lang="en-US" dirty="0"/>
              <a:t> in Er and Er-Li condensates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304B6-EBFB-A7CB-FD22-BEDD76D8A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Rubaiya Emran</a:t>
            </a:r>
          </a:p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159906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8BFE-F969-2908-8DD3-552953B2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EECD2-8923-8318-3CEA-9911292DB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149860" cy="4486275"/>
          </a:xfrm>
        </p:spPr>
        <p:txBody>
          <a:bodyPr>
            <a:normAutofit/>
          </a:bodyPr>
          <a:lstStyle/>
          <a:p>
            <a:r>
              <a:rPr lang="en-US" dirty="0" err="1"/>
              <a:t>Supersolid</a:t>
            </a:r>
            <a:r>
              <a:rPr lang="en-US" dirty="0"/>
              <a:t>: state with discrete translational symmetry and superfluid flow</a:t>
            </a:r>
          </a:p>
          <a:p>
            <a:r>
              <a:rPr lang="en-US" dirty="0"/>
              <a:t>Gross-</a:t>
            </a:r>
            <a:r>
              <a:rPr lang="en-US" dirty="0" err="1"/>
              <a:t>Pitaevskii</a:t>
            </a:r>
            <a:r>
              <a:rPr lang="en-US" dirty="0"/>
              <a:t> equation (GPE):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methods to study </a:t>
            </a:r>
            <a:r>
              <a:rPr lang="en-US" dirty="0" err="1"/>
              <a:t>supersolid</a:t>
            </a:r>
            <a:r>
              <a:rPr lang="en-US" dirty="0"/>
              <a:t> states:</a:t>
            </a:r>
          </a:p>
          <a:p>
            <a:pPr lvl="1"/>
            <a:r>
              <a:rPr lang="en-US" dirty="0"/>
              <a:t>Numerical solver to find ground states of GPE</a:t>
            </a:r>
          </a:p>
          <a:p>
            <a:pPr lvl="1"/>
            <a:r>
              <a:rPr lang="en-US" dirty="0"/>
              <a:t>Analytical solution for dispersion relation of homogenous 2D gases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1F617-6AB7-6A49-2723-EFB24B4F2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39" y="3110966"/>
            <a:ext cx="6071680" cy="919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FEC7C-5593-3EE9-8C9C-A6CA90189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871" y="1058708"/>
            <a:ext cx="3276600" cy="2971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B49DC4-2FD3-636C-AE85-AFCEB33ED22A}"/>
              </a:ext>
            </a:extLst>
          </p:cNvPr>
          <p:cNvSpPr txBox="1"/>
          <p:nvPr/>
        </p:nvSpPr>
        <p:spPr>
          <a:xfrm>
            <a:off x="8508760" y="4378237"/>
            <a:ext cx="3365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2D hexagonal </a:t>
            </a:r>
            <a:r>
              <a:rPr lang="en-US" dirty="0" err="1"/>
              <a:t>supersolid</a:t>
            </a:r>
            <a:r>
              <a:rPr lang="en-US" dirty="0"/>
              <a:t> state imaged in situ [1]</a:t>
            </a:r>
          </a:p>
        </p:txBody>
      </p:sp>
    </p:spTree>
    <p:extLst>
      <p:ext uri="{BB962C8B-B14F-4D97-AF65-F5344CB8AC3E}">
        <p14:creationId xmlns:p14="http://schemas.microsoft.com/office/powerpoint/2010/main" val="381185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2D7ED-E8FD-3628-1C4D-20F9CE406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496" y="1774296"/>
            <a:ext cx="5582575" cy="10117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0BA33-B621-F929-D236-906A76DF3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0500"/>
                <a:ext cx="10515600" cy="52812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Want to find stationary states of time-independent GPE: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Equivalent to minimizing energy subject to particle number constraint</a:t>
                </a:r>
              </a:p>
              <a:p>
                <a:r>
                  <a:rPr lang="en-US" dirty="0"/>
                  <a:t>Use imaginary time evolution to find stationary states</a:t>
                </a:r>
              </a:p>
              <a:p>
                <a:pPr lvl="1"/>
                <a:r>
                  <a:rPr lang="en-US" dirty="0"/>
                  <a:t>At each timestep, 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𝐻𝑑𝑡</m:t>
                        </m:r>
                      </m:sup>
                    </m:sSup>
                  </m:oMath>
                </a14:m>
                <a:r>
                  <a:rPr lang="en-US" dirty="0"/>
                  <a:t> and renormalize</a:t>
                </a:r>
              </a:p>
              <a:p>
                <a:pPr lvl="1"/>
                <a:r>
                  <a:rPr lang="en-US" dirty="0"/>
                  <a:t>Each eigenstate decays exponentially with rate given by its energy</a:t>
                </a:r>
              </a:p>
              <a:p>
                <a:pPr lvl="1"/>
                <a:r>
                  <a:rPr lang="en-US" dirty="0"/>
                  <a:t>Eventually, only the lowest energy solution should remain</a:t>
                </a:r>
              </a:p>
              <a:p>
                <a:r>
                  <a:rPr lang="en-US" dirty="0"/>
                  <a:t>Split-step solver</a:t>
                </a:r>
              </a:p>
              <a:p>
                <a:pPr lvl="1"/>
                <a:r>
                  <a:rPr lang="en-US" dirty="0"/>
                  <a:t>KE term calculated in Fourier space</a:t>
                </a:r>
              </a:p>
              <a:p>
                <a:pPr lvl="1"/>
                <a:r>
                  <a:rPr lang="en-US" dirty="0"/>
                  <a:t>Remaining terms calculated in real 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0BA33-B621-F929-D236-906A76DF3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0500"/>
                <a:ext cx="10515600" cy="5281263"/>
              </a:xfrm>
              <a:blipFill>
                <a:blip r:embed="rId4"/>
                <a:stretch>
                  <a:fillRect l="-1086" t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DC77D98-355A-D84A-C739-86A77783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GPE solver</a:t>
            </a:r>
          </a:p>
        </p:txBody>
      </p:sp>
    </p:spTree>
    <p:extLst>
      <p:ext uri="{BB962C8B-B14F-4D97-AF65-F5344CB8AC3E}">
        <p14:creationId xmlns:p14="http://schemas.microsoft.com/office/powerpoint/2010/main" val="242321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68A8-9DD8-85DF-42ED-BFC16090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GPE 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EBF1A-59C5-2702-83A5-7520B71C9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 region size set by Thomas-Fermi radius </a:t>
            </a:r>
          </a:p>
          <a:p>
            <a:r>
              <a:rPr lang="en-US" dirty="0"/>
              <a:t>Adaptive time step set by largest contribution to energy (KE, contact, harmonic, dipolar, etc.)</a:t>
            </a:r>
          </a:p>
          <a:p>
            <a:pPr lvl="1"/>
            <a:r>
              <a:rPr lang="en-US" dirty="0"/>
              <a:t>Necessary because contributions have different signs</a:t>
            </a:r>
          </a:p>
          <a:p>
            <a:r>
              <a:rPr lang="en-US" dirty="0"/>
              <a:t>Several runs with different initial guesses needed to converge to actual ground state</a:t>
            </a:r>
          </a:p>
          <a:p>
            <a:pPr lvl="1"/>
            <a:r>
              <a:rPr lang="en-US" dirty="0"/>
              <a:t>Can get stuck in local minima in the energy landscape</a:t>
            </a:r>
          </a:p>
          <a:p>
            <a:r>
              <a:rPr lang="en-US" dirty="0"/>
              <a:t>GPU accelerated code (</a:t>
            </a:r>
            <a:r>
              <a:rPr lang="en-US" dirty="0" err="1"/>
              <a:t>cupy</a:t>
            </a:r>
            <a:r>
              <a:rPr lang="en-US" dirty="0"/>
              <a:t>) run on MIT engaging cluster </a:t>
            </a:r>
          </a:p>
          <a:p>
            <a:pPr lvl="1"/>
            <a:r>
              <a:rPr lang="en-US" dirty="0"/>
              <a:t>For single species or nondipolar, can be fine to run locally without GPU acceleration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30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42318E-7365-096B-CF63-E9B32EB2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714" y="2139688"/>
            <a:ext cx="5639081" cy="823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6B2410-A8EA-588C-BFFD-6B299F607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excitations of form</a:t>
                </a:r>
              </a:p>
              <a:p>
                <a:endParaRPr lang="en-US" dirty="0"/>
              </a:p>
              <a:p>
                <a:r>
                  <a:rPr lang="en-US" dirty="0"/>
                  <a:t>For uniform gas, take</a:t>
                </a:r>
              </a:p>
              <a:p>
                <a:endParaRPr lang="en-US" dirty="0"/>
              </a:p>
              <a:p>
                <a:r>
                  <a:rPr lang="en-US" dirty="0"/>
                  <a:t>Linearize time-dependent GPE to find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Instability occurs when excitation energy becomes imaginary</a:t>
                </a:r>
              </a:p>
              <a:p>
                <a:r>
                  <a:rPr lang="en-US" dirty="0"/>
                  <a:t>Can also calculate from hydrodynamic equations or in full 	second quantized picture (see P+S chapters 7-8)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6B2410-A8EA-588C-BFFD-6B299F607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8C7A102-E321-55B5-960A-76306936D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454" y="2876315"/>
            <a:ext cx="5419552" cy="8423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4DEDE9-90DB-517A-F8E5-B39B286E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Excitations in BEC</a:t>
            </a:r>
          </a:p>
        </p:txBody>
      </p:sp>
    </p:spTree>
    <p:extLst>
      <p:ext uri="{BB962C8B-B14F-4D97-AF65-F5344CB8AC3E}">
        <p14:creationId xmlns:p14="http://schemas.microsoft.com/office/powerpoint/2010/main" val="206200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994D-5BCB-18E2-A794-2E93EBD8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09C951-9834-FBCB-DC15-594E0F95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406" y="4001294"/>
            <a:ext cx="3445394" cy="2584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355977-5E7F-B81C-C535-2B8093C9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nondipolar BEC in harmonic 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F03DB-7F33-3930-4C64-0E97771E8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2494" cy="4351338"/>
          </a:xfrm>
        </p:spPr>
        <p:txBody>
          <a:bodyPr/>
          <a:lstStyle/>
          <a:p>
            <a:r>
              <a:rPr lang="en-US" dirty="0"/>
              <a:t>Density profile approximated by Thomas-Fermi distribution</a:t>
            </a:r>
          </a:p>
          <a:p>
            <a:r>
              <a:rPr lang="en-US" dirty="0"/>
              <a:t>Dispersion for homogenous gas: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Transition from sound-like to free-particle-like dispersion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77090-EE1C-CD93-9832-98CFF01043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32" t="18816" b="12321"/>
          <a:stretch>
            <a:fillRect/>
          </a:stretch>
        </p:blipFill>
        <p:spPr>
          <a:xfrm>
            <a:off x="2136706" y="3287497"/>
            <a:ext cx="3845481" cy="7836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57958D-5048-B419-4D4B-7422E4E05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188" y="1362070"/>
            <a:ext cx="3688338" cy="276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6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AF61-E4CF-6550-F909-0A1EA0E3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F5EA-BCAA-F542-F5C5-95395F5D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nondipolar BEC in harmonic 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FBCF9-F135-2EC9-8487-954892749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2494" cy="4351338"/>
          </a:xfrm>
        </p:spPr>
        <p:txBody>
          <a:bodyPr/>
          <a:lstStyle/>
          <a:p>
            <a:r>
              <a:rPr lang="en-US" dirty="0"/>
              <a:t>Density profile approximated by Thomas-Fermi distribution</a:t>
            </a:r>
          </a:p>
          <a:p>
            <a:r>
              <a:rPr lang="en-US" dirty="0"/>
              <a:t>Dispersion for homogenous gas: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Transition from sound-like to free-particle-like dispersion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3277D-07CA-A6D5-52B2-A6E3803B3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2" t="18816" b="12321"/>
          <a:stretch>
            <a:fillRect/>
          </a:stretch>
        </p:blipFill>
        <p:spPr>
          <a:xfrm>
            <a:off x="2136706" y="3287497"/>
            <a:ext cx="3845481" cy="783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112AC-37D6-2850-B48B-FFFB4E135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693" y="2352314"/>
            <a:ext cx="4648776" cy="290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21CB8-E15F-7DDC-B036-A1CCC6D921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6984999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Dipolar term in GPE:</a:t>
                </a:r>
              </a:p>
              <a:p>
                <a:r>
                  <a:rPr lang="en-US" dirty="0"/>
                  <a:t>Modifies coupling in Fourier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quasi-2D BEC:</a:t>
                </a:r>
              </a:p>
              <a:p>
                <a:endParaRPr lang="en-US" dirty="0"/>
              </a:p>
              <a:p>
                <a:r>
                  <a:rPr lang="en-US" dirty="0"/>
                  <a:t>Resulting dispersion from </a:t>
                </a:r>
                <a:r>
                  <a:rPr lang="en-US" dirty="0" err="1"/>
                  <a:t>BdG</a:t>
                </a:r>
                <a:r>
                  <a:rPr lang="en-US" dirty="0"/>
                  <a:t> </a:t>
                </a:r>
                <a:r>
                  <a:rPr lang="en-US" dirty="0" err="1"/>
                  <a:t>eqns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Get a finite-wavelength minimum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21CB8-E15F-7DDC-B036-A1CCC6D92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6984999" cy="5032375"/>
              </a:xfrm>
              <a:blipFill>
                <a:blip r:embed="rId2"/>
                <a:stretch>
                  <a:fillRect l="-1636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DD16958-4E8C-8749-87C9-777DEEE31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74966"/>
            <a:ext cx="6402648" cy="1142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FE0301-07A2-1262-820A-90E26DC1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dipolar term to get a finite-wavelength instability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539C3-3A1E-39C7-CEBE-C16E62C41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48"/>
          <a:stretch>
            <a:fillRect/>
          </a:stretch>
        </p:blipFill>
        <p:spPr>
          <a:xfrm>
            <a:off x="7678993" y="3429000"/>
            <a:ext cx="3984925" cy="27949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62FD7D-E3F6-2B24-690F-CADA10D27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00" y="1602641"/>
            <a:ext cx="3184463" cy="7102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5786E5-C76C-6AE8-8B10-D77979939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427" y="2312845"/>
            <a:ext cx="4940300" cy="863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C5E86B-5A88-6FB2-FC5B-ECBE60415606}"/>
              </a:ext>
            </a:extLst>
          </p:cNvPr>
          <p:cNvSpPr txBox="1"/>
          <p:nvPr/>
        </p:nvSpPr>
        <p:spPr>
          <a:xfrm>
            <a:off x="7917083" y="6223936"/>
            <a:ext cx="439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from [2]</a:t>
            </a:r>
          </a:p>
        </p:txBody>
      </p:sp>
    </p:spTree>
    <p:extLst>
      <p:ext uri="{BB962C8B-B14F-4D97-AF65-F5344CB8AC3E}">
        <p14:creationId xmlns:p14="http://schemas.microsoft.com/office/powerpoint/2010/main" val="311909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5C03-2A29-7C4A-D449-81803CD7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Roton instability and LHY stabilization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FF638-907C-143A-8831-E5DF14431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924800" cy="4351338"/>
              </a:xfrm>
            </p:spPr>
            <p:txBody>
              <a:bodyPr/>
              <a:lstStyle/>
              <a:p>
                <a:r>
                  <a:rPr lang="en-US" dirty="0"/>
                  <a:t>At large enough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𝑑𝑑</m:t>
                        </m:r>
                      </m:sub>
                    </m:sSub>
                  </m:oMath>
                </a14:m>
                <a:r>
                  <a:rPr lang="en-US" dirty="0"/>
                  <a:t>, get </a:t>
                </a:r>
                <a:r>
                  <a:rPr lang="en-US" dirty="0" err="1"/>
                  <a:t>roton</a:t>
                </a:r>
                <a:r>
                  <a:rPr lang="en-US" dirty="0"/>
                  <a:t> instability</a:t>
                </a:r>
              </a:p>
              <a:p>
                <a:pPr lvl="1"/>
                <a:r>
                  <a:rPr lang="en-US" dirty="0"/>
                  <a:t>Excitations modulate ground state with </a:t>
                </a:r>
                <a:r>
                  <a:rPr lang="en-US" dirty="0" err="1"/>
                  <a:t>roton</a:t>
                </a:r>
                <a:r>
                  <a:rPr lang="en-US" dirty="0"/>
                  <a:t> wavelength</a:t>
                </a:r>
              </a:p>
              <a:p>
                <a:pPr lvl="1"/>
                <a:r>
                  <a:rPr lang="en-US" dirty="0"/>
                  <a:t>Would lead to collapse if not for quantum fluctuations </a:t>
                </a:r>
              </a:p>
              <a:p>
                <a:r>
                  <a:rPr lang="en-US" dirty="0"/>
                  <a:t>To model, add LHY term to GPE: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FF638-907C-143A-8831-E5DF14431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924800" cy="4351338"/>
              </a:xfrm>
              <a:blipFill>
                <a:blip r:embed="rId3"/>
                <a:stretch>
                  <a:fillRect l="-144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085C7FD-E880-24D0-DCE7-93D768A62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65" y="4268293"/>
            <a:ext cx="6931921" cy="15809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4DE0E1-EF2D-4D2D-95FD-12EE04F572AF}"/>
              </a:ext>
            </a:extLst>
          </p:cNvPr>
          <p:cNvSpPr/>
          <p:nvPr/>
        </p:nvSpPr>
        <p:spPr>
          <a:xfrm>
            <a:off x="5902529" y="4380773"/>
            <a:ext cx="1617676" cy="525784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8FE5C-C416-A60B-A3BE-2139F8F80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050" y="1825625"/>
            <a:ext cx="3873500" cy="3670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4E5BBF-28FC-FD32-E84C-DEA3B189E67A}"/>
              </a:ext>
            </a:extLst>
          </p:cNvPr>
          <p:cNvSpPr txBox="1"/>
          <p:nvPr/>
        </p:nvSpPr>
        <p:spPr>
          <a:xfrm>
            <a:off x="8252749" y="5630862"/>
            <a:ext cx="439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from [2]</a:t>
            </a:r>
          </a:p>
        </p:txBody>
      </p:sp>
    </p:spTree>
    <p:extLst>
      <p:ext uri="{BB962C8B-B14F-4D97-AF65-F5344CB8AC3E}">
        <p14:creationId xmlns:p14="http://schemas.microsoft.com/office/powerpoint/2010/main" val="358407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B8A4-C30F-8D6E-DEE8-D9447EF5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GPE: Dy single droplet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AB2E99-3B87-C34D-74D8-BAE70CF3D448}"/>
                  </a:ext>
                </a:extLst>
              </p:cNvPr>
              <p:cNvSpPr txBox="1"/>
              <p:nvPr/>
            </p:nvSpPr>
            <p:spPr>
              <a:xfrm>
                <a:off x="3369590" y="1837312"/>
                <a:ext cx="609858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as = 58a0</a:t>
                </a:r>
              </a:p>
              <a:p>
                <a:r>
                  <a:rPr lang="en-US" dirty="0"/>
                  <a:t>Energy: -23.8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Variational energy: -19.2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Peak density: 1.5e22 m</a:t>
                </a:r>
                <a:r>
                  <a:rPr lang="en-US" baseline="30000" dirty="0"/>
                  <a:t>-3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AB2E99-3B87-C34D-74D8-BAE70CF3D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590" y="1837312"/>
                <a:ext cx="6098582" cy="1200329"/>
              </a:xfrm>
              <a:prstGeom prst="rect">
                <a:avLst/>
              </a:prstGeom>
              <a:blipFill>
                <a:blip r:embed="rId2"/>
                <a:stretch>
                  <a:fillRect l="-832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B356802-21EE-DA35-5C0A-D87A29FD8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324" y="365125"/>
            <a:ext cx="3733696" cy="58467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F7F4C2-CB1F-374C-8B1D-CDDDCF4D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94" y="1310530"/>
            <a:ext cx="2913986" cy="2185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266A36-C178-7D31-8AC9-B2DC38E45202}"/>
                  </a:ext>
                </a:extLst>
              </p:cNvPr>
              <p:cNvSpPr txBox="1"/>
              <p:nvPr/>
            </p:nvSpPr>
            <p:spPr>
              <a:xfrm>
                <a:off x="3369590" y="3665435"/>
                <a:ext cx="609858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as = 78a0</a:t>
                </a:r>
              </a:p>
              <a:p>
                <a:r>
                  <a:rPr lang="en-US" dirty="0"/>
                  <a:t>Energy: 1.5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Variational energy: 2.5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Peak density: 4.5e21 m</a:t>
                </a:r>
                <a:r>
                  <a:rPr lang="en-US" baseline="30000" dirty="0"/>
                  <a:t>-3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266A36-C178-7D31-8AC9-B2DC38E45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590" y="3665435"/>
                <a:ext cx="6098582" cy="1200329"/>
              </a:xfrm>
              <a:prstGeom prst="rect">
                <a:avLst/>
              </a:prstGeom>
              <a:blipFill>
                <a:blip r:embed="rId5"/>
                <a:stretch>
                  <a:fillRect l="-832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F59A88B-44C4-5F80-8E5B-29B7E5481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114" y="3496020"/>
            <a:ext cx="2913986" cy="21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3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AAB5-37FE-18ED-C320-58ED5762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817"/>
            <a:ext cx="10937789" cy="1325563"/>
          </a:xfrm>
        </p:spPr>
        <p:txBody>
          <a:bodyPr/>
          <a:lstStyle/>
          <a:p>
            <a:r>
              <a:rPr lang="en-US" dirty="0"/>
              <a:t>GPE: Er-166 droplet-</a:t>
            </a:r>
            <a:r>
              <a:rPr lang="en-US" dirty="0" err="1"/>
              <a:t>supersolid</a:t>
            </a:r>
            <a:r>
              <a:rPr lang="en-US" dirty="0"/>
              <a:t>-BEC transition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A1BE4-BF30-4852-F207-82800435F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678" y="1385884"/>
            <a:ext cx="4708947" cy="22605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023244-DAD1-E9F9-7D16-CE60E5515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250" y="3827392"/>
            <a:ext cx="3686087" cy="2764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9A7FFE-3586-73F9-888D-65FCE796E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657" y="3827392"/>
            <a:ext cx="3686087" cy="2764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9B90F-04F0-7988-0C77-E82070E86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846" y="3789435"/>
            <a:ext cx="3787304" cy="2840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5A682E-F714-D2AA-5B92-EDD5D5B6F193}"/>
              </a:ext>
            </a:extLst>
          </p:cNvPr>
          <p:cNvSpPr txBox="1"/>
          <p:nvPr/>
        </p:nvSpPr>
        <p:spPr>
          <a:xfrm>
            <a:off x="1138468" y="3591918"/>
            <a:ext cx="72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GPE solver: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99870-04E6-68B6-7738-008EC399254B}"/>
              </a:ext>
            </a:extLst>
          </p:cNvPr>
          <p:cNvSpPr txBox="1"/>
          <p:nvPr/>
        </p:nvSpPr>
        <p:spPr>
          <a:xfrm>
            <a:off x="1138469" y="1304282"/>
            <a:ext cx="72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[3]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DD398F-1022-F011-A13A-4F196532F1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0120"/>
          <a:stretch>
            <a:fillRect/>
          </a:stretch>
        </p:blipFill>
        <p:spPr>
          <a:xfrm>
            <a:off x="8180353" y="1641832"/>
            <a:ext cx="2603500" cy="2662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1E271A-7504-79B0-AFAD-B89FD1819514}"/>
              </a:ext>
            </a:extLst>
          </p:cNvPr>
          <p:cNvSpPr txBox="1"/>
          <p:nvPr/>
        </p:nvSpPr>
        <p:spPr>
          <a:xfrm>
            <a:off x="8180353" y="1908076"/>
            <a:ext cx="1814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5 x 10</a:t>
            </a:r>
            <a:r>
              <a:rPr lang="en-US" baseline="30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5895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A28C-199E-9C5A-ECAB-EE762CA7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Er-166 droplets in our old trap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9E306-120C-9132-2676-9AA1AE758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95" t="32588" r="36158" b="30250"/>
          <a:stretch>
            <a:fillRect/>
          </a:stretch>
        </p:blipFill>
        <p:spPr>
          <a:xfrm>
            <a:off x="1269551" y="2377608"/>
            <a:ext cx="1257605" cy="1410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B89D09-BF40-B29D-0C3C-6BAC30DFAA14}"/>
              </a:ext>
            </a:extLst>
          </p:cNvPr>
          <p:cNvSpPr txBox="1"/>
          <p:nvPr/>
        </p:nvSpPr>
        <p:spPr>
          <a:xfrm>
            <a:off x="1223514" y="1879579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51.67a0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369EC-ADF9-3CA4-5A5B-5344CFFD79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213" t="33021" r="32948" b="31019"/>
          <a:stretch>
            <a:fillRect/>
          </a:stretch>
        </p:blipFill>
        <p:spPr>
          <a:xfrm>
            <a:off x="2992150" y="2377608"/>
            <a:ext cx="1609970" cy="1455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B7C05C-BD7E-AFDB-7364-E5FD5D5F28A2}"/>
              </a:ext>
            </a:extLst>
          </p:cNvPr>
          <p:cNvSpPr txBox="1"/>
          <p:nvPr/>
        </p:nvSpPr>
        <p:spPr>
          <a:xfrm>
            <a:off x="3113529" y="1941589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52.11a0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13518E-199C-ACCD-4C2C-478D8B72E6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085" t="31123" r="37583" b="30843"/>
          <a:stretch>
            <a:fillRect/>
          </a:stretch>
        </p:blipFill>
        <p:spPr>
          <a:xfrm>
            <a:off x="5381360" y="2377608"/>
            <a:ext cx="1257605" cy="16063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48E7F1-3116-0308-9097-03B3E08E3039}"/>
              </a:ext>
            </a:extLst>
          </p:cNvPr>
          <p:cNvSpPr txBox="1"/>
          <p:nvPr/>
        </p:nvSpPr>
        <p:spPr>
          <a:xfrm>
            <a:off x="5381360" y="1900828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52.22a0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7615AD-CD79-7654-3515-5CCAF58557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835" t="29304" r="37280" b="28535"/>
          <a:stretch>
            <a:fillRect/>
          </a:stretch>
        </p:blipFill>
        <p:spPr>
          <a:xfrm>
            <a:off x="7320384" y="2373662"/>
            <a:ext cx="1124921" cy="16253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893C32-E9AC-B719-3FB8-08A18EB61B3E}"/>
              </a:ext>
            </a:extLst>
          </p:cNvPr>
          <p:cNvSpPr txBox="1"/>
          <p:nvPr/>
        </p:nvSpPr>
        <p:spPr>
          <a:xfrm>
            <a:off x="7180180" y="1861455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53.33a0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7821A6-8501-756E-DAA3-29BADFF311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0265" t="25260" r="39045" b="26435"/>
          <a:stretch>
            <a:fillRect/>
          </a:stretch>
        </p:blipFill>
        <p:spPr>
          <a:xfrm>
            <a:off x="9647634" y="2291897"/>
            <a:ext cx="972982" cy="17036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86CADC-2214-3D5C-B186-01BE0851ED14}"/>
              </a:ext>
            </a:extLst>
          </p:cNvPr>
          <p:cNvSpPr txBox="1"/>
          <p:nvPr/>
        </p:nvSpPr>
        <p:spPr>
          <a:xfrm>
            <a:off x="9531142" y="1810197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54a0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9B1B8A-BBBE-E49C-DD62-C7169484C1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860" y="4148103"/>
            <a:ext cx="2141285" cy="16059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F42110-68AF-3EE9-CE34-48D990A5E9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7238" y="4062253"/>
            <a:ext cx="2370220" cy="17776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B390E6-893D-F040-940D-87C45EE249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5856" y="4233548"/>
            <a:ext cx="2159641" cy="16197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602E48-5521-4534-E205-CE87A1A5E2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5786" y="4233548"/>
            <a:ext cx="2271559" cy="17036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D019B3-68E0-EC42-09DE-473F672F80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7634" y="4174621"/>
            <a:ext cx="2159641" cy="16197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9CDC70-EA83-A32F-2CA5-774254443E6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7969" y="219229"/>
            <a:ext cx="3072311" cy="37079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39579C8-DE83-5D07-DC15-7759D0573DC4}"/>
              </a:ext>
            </a:extLst>
          </p:cNvPr>
          <p:cNvSpPr txBox="1"/>
          <p:nvPr/>
        </p:nvSpPr>
        <p:spPr>
          <a:xfrm>
            <a:off x="9540795" y="505088"/>
            <a:ext cx="2159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x, z, y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3C920A-86CA-02C6-6FAE-54DFF5F0D7A1}"/>
              </a:ext>
            </a:extLst>
          </p:cNvPr>
          <p:cNvSpPr txBox="1">
            <a:spLocks/>
          </p:cNvSpPr>
          <p:nvPr/>
        </p:nvSpPr>
        <p:spPr>
          <a:xfrm>
            <a:off x="10459332" y="982133"/>
            <a:ext cx="2596662" cy="4369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 = 4e4</a:t>
            </a:r>
          </a:p>
        </p:txBody>
      </p:sp>
    </p:spTree>
    <p:extLst>
      <p:ext uri="{BB962C8B-B14F-4D97-AF65-F5344CB8AC3E}">
        <p14:creationId xmlns:p14="http://schemas.microsoft.com/office/powerpoint/2010/main" val="401885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C27D-3950-E169-7729-FBDBFDFD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0F34F17-B241-10FF-DB6A-BED79FCF7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31" y="1502663"/>
            <a:ext cx="3044952" cy="228371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E99958-9D99-6E16-4BF7-EC7FBAE9E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18" y="1508123"/>
            <a:ext cx="3044952" cy="22837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753E7-4BD9-6439-1826-58C43A059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0" y="3791837"/>
            <a:ext cx="30480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CBEF3B-0ECD-081E-9664-F86FA6FEE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544" y="3791837"/>
            <a:ext cx="3048000" cy="2286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96DA1A-BC9C-76CC-75C5-94B10BF90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938" y="3791837"/>
            <a:ext cx="30480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4C4F17B-BE58-A025-9A3C-2EE47A62E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5332" y="3791837"/>
            <a:ext cx="3048000" cy="2286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8F731D8-5EA6-6BD0-B41D-9E67821E8D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8117" y="1504078"/>
            <a:ext cx="3044952" cy="22837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ADF78BF-3EFB-DA54-6020-1CB409BA3B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0563" y="1504078"/>
            <a:ext cx="3044952" cy="2283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B87049-A9AB-DA5E-8398-A7E5BA18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Er-166 droplets in our old 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E3D4E-0089-14C8-F46C-866C385A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9332" y="982133"/>
            <a:ext cx="2596662" cy="436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 = 5e4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CC2F3-32C5-C41C-C21E-8B40BC6E96E5}"/>
              </a:ext>
            </a:extLst>
          </p:cNvPr>
          <p:cNvSpPr txBox="1"/>
          <p:nvPr/>
        </p:nvSpPr>
        <p:spPr>
          <a:xfrm>
            <a:off x="777984" y="1324872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51a0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11D40-A70C-02F4-BC03-BD3AB9295C1A}"/>
              </a:ext>
            </a:extLst>
          </p:cNvPr>
          <p:cNvSpPr txBox="1"/>
          <p:nvPr/>
        </p:nvSpPr>
        <p:spPr>
          <a:xfrm>
            <a:off x="3560534" y="1310760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52a0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D66D8-5C2A-0DA4-4B40-767F0B8B3727}"/>
              </a:ext>
            </a:extLst>
          </p:cNvPr>
          <p:cNvSpPr txBox="1"/>
          <p:nvPr/>
        </p:nvSpPr>
        <p:spPr>
          <a:xfrm>
            <a:off x="6328552" y="1321435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53a0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9011A-3EE7-DF3C-629B-746639DB4870}"/>
              </a:ext>
            </a:extLst>
          </p:cNvPr>
          <p:cNvSpPr txBox="1"/>
          <p:nvPr/>
        </p:nvSpPr>
        <p:spPr>
          <a:xfrm>
            <a:off x="9109938" y="1323457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= 54a0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99E86C-DAE5-D8AD-BF51-7F321B7633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7969" y="219229"/>
            <a:ext cx="3072311" cy="37079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5DD4DC2-C1E1-B501-C5A5-57D7C7E75761}"/>
              </a:ext>
            </a:extLst>
          </p:cNvPr>
          <p:cNvSpPr txBox="1"/>
          <p:nvPr/>
        </p:nvSpPr>
        <p:spPr>
          <a:xfrm>
            <a:off x="980174" y="6077837"/>
            <a:ext cx="13612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 peak density (&gt;10</a:t>
            </a:r>
            <a:r>
              <a:rPr lang="en-US" sz="2400" baseline="30000" dirty="0"/>
              <a:t>21  </a:t>
            </a:r>
            <a:r>
              <a:rPr lang="en-US" sz="2400" dirty="0"/>
              <a:t>m</a:t>
            </a:r>
            <a:r>
              <a:rPr lang="en-US" sz="2400" baseline="30000" dirty="0"/>
              <a:t>-3</a:t>
            </a:r>
            <a:r>
              <a:rPr lang="en-US" sz="2400" dirty="0"/>
              <a:t>)</a:t>
            </a:r>
            <a:endParaRPr lang="en-US" sz="2400" baseline="30000" dirty="0"/>
          </a:p>
          <a:p>
            <a:r>
              <a:rPr lang="en-US" sz="2400" dirty="0" err="1"/>
              <a:t>Supersolid</a:t>
            </a:r>
            <a:r>
              <a:rPr lang="en-US" sz="2400" dirty="0"/>
              <a:t> region is very narrow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42FA9D-26C1-734B-7643-ED99CC5BF55C}"/>
              </a:ext>
            </a:extLst>
          </p:cNvPr>
          <p:cNvSpPr txBox="1"/>
          <p:nvPr/>
        </p:nvSpPr>
        <p:spPr>
          <a:xfrm>
            <a:off x="9540795" y="505088"/>
            <a:ext cx="2159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x, z, y</a:t>
            </a:r>
          </a:p>
        </p:txBody>
      </p:sp>
    </p:spTree>
    <p:extLst>
      <p:ext uri="{BB962C8B-B14F-4D97-AF65-F5344CB8AC3E}">
        <p14:creationId xmlns:p14="http://schemas.microsoft.com/office/powerpoint/2010/main" val="399856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A937-1B64-93B2-E323-7CBBCF40C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86" y="1815264"/>
            <a:ext cx="6477001" cy="4866120"/>
          </a:xfrm>
        </p:spPr>
        <p:txBody>
          <a:bodyPr/>
          <a:lstStyle/>
          <a:p>
            <a:r>
              <a:rPr lang="en-US" dirty="0"/>
              <a:t>Now have coupled GPEs: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In-phase “density mode” and out-of-phase “spin mode”</a:t>
            </a:r>
          </a:p>
          <a:p>
            <a:r>
              <a:rPr lang="en-US" dirty="0"/>
              <a:t>Instability in the spin mode resolved by immiscibility, rather than total density collapse</a:t>
            </a:r>
          </a:p>
          <a:p>
            <a:r>
              <a:rPr lang="en-US" dirty="0" err="1"/>
              <a:t>Supersolid</a:t>
            </a:r>
            <a:r>
              <a:rPr lang="en-US" dirty="0"/>
              <a:t> peak densities reduced by order of magnitude [4,5]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4F889-C0C1-5A64-6545-86A939E0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another species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1F927-6054-F740-E7BB-11FEC6D6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94" y="289043"/>
            <a:ext cx="4273420" cy="3052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C213BA-D4AD-01D2-9A08-D62163471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801" y="3827878"/>
            <a:ext cx="3585806" cy="2733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F1FB3C-718E-E791-F2F5-A920E7A3D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" y="2300789"/>
            <a:ext cx="7965130" cy="817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751320-A84D-79D4-0D55-BF3FEFEDB947}"/>
              </a:ext>
            </a:extLst>
          </p:cNvPr>
          <p:cNvSpPr txBox="1"/>
          <p:nvPr/>
        </p:nvSpPr>
        <p:spPr>
          <a:xfrm>
            <a:off x="8111801" y="333184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[4]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F3596-4815-1C3A-2857-3B3AF78DA449}"/>
              </a:ext>
            </a:extLst>
          </p:cNvPr>
          <p:cNvSpPr txBox="1"/>
          <p:nvPr/>
        </p:nvSpPr>
        <p:spPr>
          <a:xfrm>
            <a:off x="8111801" y="6377187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97525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EAC8-DB79-F4B0-C524-D73A3A92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Roton immiscibility for uniform 2D mixture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B17D1-E88F-37DD-0816-982A4FEA8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371" y="1484331"/>
            <a:ext cx="10515600" cy="5347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Following same procedure as single GPE, derive following dispersion: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F4124-91AC-AD9A-ACA8-17F02799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6071886"/>
            <a:ext cx="5486400" cy="647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89D0A9-67B8-653A-9417-32B62B546612}"/>
              </a:ext>
            </a:extLst>
          </p:cNvPr>
          <p:cNvSpPr txBox="1"/>
          <p:nvPr/>
        </p:nvSpPr>
        <p:spPr>
          <a:xfrm>
            <a:off x="6705600" y="5843760"/>
            <a:ext cx="285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P+S chapter 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FD102C-5ED9-1B35-DE32-C255256C9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462" y="4391764"/>
            <a:ext cx="4301015" cy="1195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314DEB-D9C5-96D7-D21F-7C1EB2380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0462" y="3330741"/>
            <a:ext cx="4241744" cy="1168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CB1DF8-59BF-4644-0EE1-4FDE7EA5C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228" y="1911581"/>
            <a:ext cx="8587870" cy="11688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AC2364-E302-5AA4-9116-85D352BD7D07}"/>
              </a:ext>
            </a:extLst>
          </p:cNvPr>
          <p:cNvSpPr/>
          <p:nvPr/>
        </p:nvSpPr>
        <p:spPr>
          <a:xfrm>
            <a:off x="6380516" y="5587353"/>
            <a:ext cx="5817704" cy="1292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07788A-93DD-7201-C833-024C603DDA44}"/>
              </a:ext>
            </a:extLst>
          </p:cNvPr>
          <p:cNvSpPr txBox="1"/>
          <p:nvPr/>
        </p:nvSpPr>
        <p:spPr>
          <a:xfrm>
            <a:off x="708372" y="3787307"/>
            <a:ext cx="2857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Uncoupled modes: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6FDA75-4532-3DD7-4D87-C4A3F6FDFD55}"/>
              </a:ext>
            </a:extLst>
          </p:cNvPr>
          <p:cNvSpPr txBox="1"/>
          <p:nvPr/>
        </p:nvSpPr>
        <p:spPr>
          <a:xfrm>
            <a:off x="708371" y="4811472"/>
            <a:ext cx="2408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Interactions: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E28F41-CD47-B047-4635-A5A70BD405EB}"/>
              </a:ext>
            </a:extLst>
          </p:cNvPr>
          <p:cNvSpPr txBox="1"/>
          <p:nvPr/>
        </p:nvSpPr>
        <p:spPr>
          <a:xfrm>
            <a:off x="360218" y="6386945"/>
            <a:ext cx="2272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reference [6]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BB770-AF3D-755D-4ABF-CF2E9740C58A}"/>
              </a:ext>
            </a:extLst>
          </p:cNvPr>
          <p:cNvSpPr txBox="1"/>
          <p:nvPr/>
        </p:nvSpPr>
        <p:spPr>
          <a:xfrm>
            <a:off x="7370618" y="3107272"/>
            <a:ext cx="272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Effective coupling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C90FD1E-4BBD-A3FD-06B5-B02C81E05548}"/>
              </a:ext>
            </a:extLst>
          </p:cNvPr>
          <p:cNvSpPr/>
          <p:nvPr/>
        </p:nvSpPr>
        <p:spPr>
          <a:xfrm rot="5400000">
            <a:off x="8303008" y="1746093"/>
            <a:ext cx="447644" cy="2312424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3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0E1B-2F22-FE17-8FC3-A1AFCF31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76C2-638A-1E3B-9D65-6331D264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7" y="-47624"/>
            <a:ext cx="11552583" cy="1325563"/>
          </a:xfrm>
        </p:spPr>
        <p:txBody>
          <a:bodyPr/>
          <a:lstStyle/>
          <a:p>
            <a:r>
              <a:rPr lang="en-US" dirty="0"/>
              <a:t>Miscible-immiscible transition: no dipole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E9CB9-3107-89E4-85B7-389B2ED5119D}"/>
              </a:ext>
            </a:extLst>
          </p:cNvPr>
          <p:cNvSpPr txBox="1"/>
          <p:nvPr/>
        </p:nvSpPr>
        <p:spPr>
          <a:xfrm>
            <a:off x="7903550" y="2021292"/>
            <a:ext cx="272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Effective coupling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C419F6-2066-E8D3-E6D8-5B5670174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046" y="930921"/>
            <a:ext cx="7772400" cy="1057848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8D36605-E55D-C436-8BAE-A950B91EBEF5}"/>
              </a:ext>
            </a:extLst>
          </p:cNvPr>
          <p:cNvSpPr/>
          <p:nvPr/>
        </p:nvSpPr>
        <p:spPr>
          <a:xfrm rot="5400000">
            <a:off x="8234011" y="741567"/>
            <a:ext cx="447644" cy="2179250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00288-8FAA-2BFE-F701-C353E9DB2316}"/>
              </a:ext>
            </a:extLst>
          </p:cNvPr>
          <p:cNvSpPr txBox="1"/>
          <p:nvPr/>
        </p:nvSpPr>
        <p:spPr>
          <a:xfrm>
            <a:off x="623250" y="2547731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0: Miscible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2D3881-B0FC-F18F-FA2B-F4CE283ED89C}"/>
              </a:ext>
            </a:extLst>
          </p:cNvPr>
          <p:cNvSpPr txBox="1"/>
          <p:nvPr/>
        </p:nvSpPr>
        <p:spPr>
          <a:xfrm>
            <a:off x="7058645" y="2547731"/>
            <a:ext cx="3145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37a0: Immiscible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5A555-AB9B-41BA-EECE-441BC40FA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0" y="2987568"/>
            <a:ext cx="4648290" cy="27646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451FF7-BFAE-DB59-4650-1D0317CF3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645" y="2967314"/>
            <a:ext cx="4648290" cy="278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66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9E8D93-71AA-AA38-CF07-7800C251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4" y="4272867"/>
            <a:ext cx="6615473" cy="1150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6A9F8-B59E-0898-0395-3553120054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4043" y="1503587"/>
                <a:ext cx="7257182" cy="55385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 </a:t>
                </a:r>
                <a:r>
                  <a:rPr lang="en-US" dirty="0" err="1"/>
                  <a:t>roton</a:t>
                </a:r>
                <a:r>
                  <a:rPr lang="en-US" dirty="0"/>
                  <a:t> instability because coupling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super-linear</a:t>
                </a:r>
              </a:p>
              <a:p>
                <a:r>
                  <a:rPr lang="en-US" dirty="0"/>
                  <a:t>Formally, condition for instability is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no dipole, simplifies to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LHS clearly minimized at q = 0, so no way to have instability at finite wavelength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6A9F8-B59E-0898-0395-3553120054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4043" y="1503587"/>
                <a:ext cx="7257182" cy="5538561"/>
              </a:xfrm>
              <a:blipFill>
                <a:blip r:embed="rId3"/>
                <a:stretch>
                  <a:fillRect l="-1399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2032637-634A-ECEE-5F05-97ED739B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Miscible-immiscible transition: no dipole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ACAC3-1E84-E817-B905-BA5A182E7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396" y="2766219"/>
            <a:ext cx="5366699" cy="1242074"/>
          </a:xfrm>
          <a:prstGeom prst="rect">
            <a:avLst/>
          </a:prstGeom>
        </p:spPr>
      </p:pic>
      <p:pic>
        <p:nvPicPr>
          <p:cNvPr id="14" name="Picture 13" descr="A screen shot of a graph&#10;&#10;AI-generated content may be incorrect.">
            <a:extLst>
              <a:ext uri="{FF2B5EF4-FFF2-40B4-BE49-F238E27FC236}">
                <a16:creationId xmlns:a16="http://schemas.microsoft.com/office/drawing/2014/main" id="{D75D97B9-CAD7-454A-8769-953936700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448" y="1690688"/>
            <a:ext cx="4620997" cy="411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75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D533-78F9-524E-04F6-83138117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EB7DA0-1C6D-8383-C39D-DA00D4302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225"/>
          <a:stretch>
            <a:fillRect/>
          </a:stretch>
        </p:blipFill>
        <p:spPr>
          <a:xfrm>
            <a:off x="341747" y="3591340"/>
            <a:ext cx="3650697" cy="2204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BEE86C-8DFC-E531-CCBC-FB309F5C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7" y="-47624"/>
            <a:ext cx="11552583" cy="1325563"/>
          </a:xfrm>
        </p:spPr>
        <p:txBody>
          <a:bodyPr/>
          <a:lstStyle/>
          <a:p>
            <a:r>
              <a:rPr lang="en-US" dirty="0"/>
              <a:t>Miscible-immiscible transition: with dipole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45368-53FB-883F-6508-31575E43FC92}"/>
              </a:ext>
            </a:extLst>
          </p:cNvPr>
          <p:cNvSpPr txBox="1"/>
          <p:nvPr/>
        </p:nvSpPr>
        <p:spPr>
          <a:xfrm>
            <a:off x="7903550" y="2021292"/>
            <a:ext cx="272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Effective coupling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294A95-54F9-EC57-1C79-424C29FF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46" y="930921"/>
            <a:ext cx="7772400" cy="1057848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4A72182F-5993-D55E-3238-7DC6E54D4205}"/>
              </a:ext>
            </a:extLst>
          </p:cNvPr>
          <p:cNvSpPr/>
          <p:nvPr/>
        </p:nvSpPr>
        <p:spPr>
          <a:xfrm rot="5400000">
            <a:off x="8234011" y="741567"/>
            <a:ext cx="447644" cy="2179250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677C2C-B270-8EE6-24AC-15F8C92131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094" b="1057"/>
          <a:stretch>
            <a:fillRect/>
          </a:stretch>
        </p:blipFill>
        <p:spPr>
          <a:xfrm>
            <a:off x="8027277" y="3591340"/>
            <a:ext cx="3800213" cy="21500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2A7AEA-3B21-5907-2223-D703D6D4E2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534"/>
          <a:stretch>
            <a:fillRect/>
          </a:stretch>
        </p:blipFill>
        <p:spPr>
          <a:xfrm>
            <a:off x="4217732" y="3591340"/>
            <a:ext cx="3800213" cy="22043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9EEA57-07F0-13CC-6282-07CE4A30D91D}"/>
              </a:ext>
            </a:extLst>
          </p:cNvPr>
          <p:cNvSpPr txBox="1"/>
          <p:nvPr/>
        </p:nvSpPr>
        <p:spPr>
          <a:xfrm>
            <a:off x="1049495" y="3081994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0: Miscible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6DB17F-8F04-A8E0-259B-55E8BE2D9727}"/>
              </a:ext>
            </a:extLst>
          </p:cNvPr>
          <p:cNvSpPr txBox="1"/>
          <p:nvPr/>
        </p:nvSpPr>
        <p:spPr>
          <a:xfrm>
            <a:off x="4523397" y="3081994"/>
            <a:ext cx="3145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24a0: Roton immiscible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3E4815-0B81-604D-2BD5-57103FD74DD1}"/>
              </a:ext>
            </a:extLst>
          </p:cNvPr>
          <p:cNvSpPr txBox="1"/>
          <p:nvPr/>
        </p:nvSpPr>
        <p:spPr>
          <a:xfrm>
            <a:off x="8354780" y="3081994"/>
            <a:ext cx="3145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57a0: Immiscible</a:t>
            </a:r>
          </a:p>
        </p:txBody>
      </p:sp>
    </p:spTree>
    <p:extLst>
      <p:ext uri="{BB962C8B-B14F-4D97-AF65-F5344CB8AC3E}">
        <p14:creationId xmlns:p14="http://schemas.microsoft.com/office/powerpoint/2010/main" val="1426393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8C91-D774-E122-01DB-C2C7E9152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6E8AE5-71C6-8666-B08B-8C7E105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85" y="2427958"/>
            <a:ext cx="4325259" cy="1001042"/>
          </a:xfrm>
          <a:prstGeom prst="rect">
            <a:avLst/>
          </a:prstGeom>
        </p:spPr>
      </p:pic>
      <p:pic>
        <p:nvPicPr>
          <p:cNvPr id="3" name="Content Placeholder 12" descr="A screen shot of a graph&#10;&#10;AI-generated content may be incorrect.">
            <a:extLst>
              <a:ext uri="{FF2B5EF4-FFF2-40B4-BE49-F238E27FC236}">
                <a16:creationId xmlns:a16="http://schemas.microsoft.com/office/drawing/2014/main" id="{AAFD8387-185B-E655-A164-AB9C7809E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21829" y="1483860"/>
            <a:ext cx="5431971" cy="48323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2EB092-C154-53AF-752B-D8404F51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Miscible -&gt; </a:t>
            </a:r>
            <a:r>
              <a:rPr lang="en-US" dirty="0" err="1"/>
              <a:t>roton</a:t>
            </a:r>
            <a:r>
              <a:rPr lang="en-US" dirty="0"/>
              <a:t> immiscible -&gt; immiscible transition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655998-3FC2-A388-B01C-D90FDAF9B59D}"/>
                  </a:ext>
                </a:extLst>
              </p:cNvPr>
              <p:cNvSpPr txBox="1"/>
              <p:nvPr/>
            </p:nvSpPr>
            <p:spPr>
              <a:xfrm>
                <a:off x="633817" y="1836127"/>
                <a:ext cx="5288012" cy="4174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Critical a</a:t>
                </a:r>
                <a:r>
                  <a:rPr lang="en-US" sz="2000" baseline="-25000" dirty="0"/>
                  <a:t>12</a:t>
                </a:r>
                <a:r>
                  <a:rPr lang="en-US" sz="2000" dirty="0"/>
                  <a:t> for transition to immiscibility occurs when, in the limit of  q to 0,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 Simplifies to typical immiscibility condition modified for dipole interaction and 2D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Miscible -&gt; </a:t>
                </a:r>
                <a:r>
                  <a:rPr lang="en-US" sz="2000" dirty="0" err="1"/>
                  <a:t>roton</a:t>
                </a:r>
                <a:r>
                  <a:rPr lang="en-US" sz="2000" dirty="0"/>
                  <a:t> immiscible transition is more complicated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655998-3FC2-A388-B01C-D90FDAF9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7" y="1836127"/>
                <a:ext cx="5288012" cy="4174091"/>
              </a:xfrm>
              <a:prstGeom prst="rect">
                <a:avLst/>
              </a:prstGeom>
              <a:blipFill>
                <a:blip r:embed="rId4"/>
                <a:stretch>
                  <a:fillRect l="-718" t="-606" r="-478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155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5F09-3DCE-99A8-4909-6DCE844A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a</a:t>
            </a:r>
            <a:r>
              <a:rPr lang="en-US" baseline="-25000" dirty="0"/>
              <a:t>11</a:t>
            </a:r>
            <a:r>
              <a:rPr lang="en-US" dirty="0"/>
              <a:t>, large a</a:t>
            </a:r>
            <a:r>
              <a:rPr lang="en-US" baseline="-25000" dirty="0"/>
              <a:t>22</a:t>
            </a:r>
            <a:r>
              <a:rPr lang="en-US" dirty="0"/>
              <a:t> favorable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F050D-73BA-D69E-798A-DE027357879C}"/>
              </a:ext>
            </a:extLst>
          </p:cNvPr>
          <p:cNvSpPr txBox="1"/>
          <p:nvPr/>
        </p:nvSpPr>
        <p:spPr>
          <a:xfrm>
            <a:off x="781214" y="5082719"/>
            <a:ext cx="444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has greater effect on M-RIM transition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7AB71-3539-E937-39EA-0518826E63D1}"/>
              </a:ext>
            </a:extLst>
          </p:cNvPr>
          <p:cNvSpPr txBox="1"/>
          <p:nvPr/>
        </p:nvSpPr>
        <p:spPr>
          <a:xfrm>
            <a:off x="6529388" y="5082719"/>
            <a:ext cx="444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22</a:t>
            </a:r>
            <a:r>
              <a:rPr lang="en-US" dirty="0"/>
              <a:t> has greater effect on RIM-IM transition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64128-A00E-B531-6E49-04EB2479E262}"/>
              </a:ext>
            </a:extLst>
          </p:cNvPr>
          <p:cNvSpPr txBox="1"/>
          <p:nvPr/>
        </p:nvSpPr>
        <p:spPr>
          <a:xfrm>
            <a:off x="9055100" y="596900"/>
            <a:ext cx="271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z1</a:t>
            </a:r>
            <a:r>
              <a:rPr lang="en-US" dirty="0"/>
              <a:t>=l</a:t>
            </a:r>
            <a:r>
              <a:rPr lang="en-US" baseline="-25000" dirty="0"/>
              <a:t>z2</a:t>
            </a:r>
          </a:p>
          <a:p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 = M</a:t>
            </a:r>
            <a:r>
              <a:rPr lang="en-US" baseline="-25000" dirty="0"/>
              <a:t>1</a:t>
            </a:r>
            <a:r>
              <a:rPr lang="en-US" dirty="0"/>
              <a:t>/24</a:t>
            </a:r>
          </a:p>
          <a:p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= n</a:t>
            </a:r>
            <a:r>
              <a:rPr lang="en-US" baseline="-25000" dirty="0"/>
              <a:t>2</a:t>
            </a:r>
            <a:r>
              <a:rPr lang="en-US" dirty="0"/>
              <a:t> = n</a:t>
            </a:r>
            <a:r>
              <a:rPr lang="en-US" baseline="-25000" dirty="0"/>
              <a:t>2D</a:t>
            </a:r>
          </a:p>
          <a:p>
            <a:r>
              <a:rPr lang="en-US" dirty="0"/>
              <a:t>b</a:t>
            </a:r>
            <a:r>
              <a:rPr lang="en-US" baseline="-25000" dirty="0"/>
              <a:t>11</a:t>
            </a:r>
            <a:r>
              <a:rPr lang="en-US" dirty="0"/>
              <a:t> = 64a</a:t>
            </a:r>
            <a:r>
              <a:rPr lang="en-US" baseline="-25000" dirty="0"/>
              <a:t>0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42997-3926-238B-8389-8A79A26EBDB2}"/>
              </a:ext>
            </a:extLst>
          </p:cNvPr>
          <p:cNvSpPr txBox="1"/>
          <p:nvPr/>
        </p:nvSpPr>
        <p:spPr>
          <a:xfrm>
            <a:off x="915303" y="1939718"/>
            <a:ext cx="271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22</a:t>
            </a:r>
            <a:r>
              <a:rPr lang="en-US" dirty="0"/>
              <a:t> = 80a</a:t>
            </a:r>
            <a:r>
              <a:rPr lang="en-US" baseline="-25000" dirty="0"/>
              <a:t>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764BEE-DB5F-B49A-2031-4F0A7E5E1F11}"/>
              </a:ext>
            </a:extLst>
          </p:cNvPr>
          <p:cNvSpPr txBox="1"/>
          <p:nvPr/>
        </p:nvSpPr>
        <p:spPr>
          <a:xfrm>
            <a:off x="6337300" y="1908690"/>
            <a:ext cx="271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68a</a:t>
            </a:r>
            <a:r>
              <a:rPr lang="en-US" baseline="-25000" dirty="0"/>
              <a:t>0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CD46AD-B544-72A9-B10E-8046694F1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14" y="2363788"/>
            <a:ext cx="5314786" cy="25688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39EE87-5346-7010-B9D5-31351D283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931" y="2361345"/>
            <a:ext cx="5259388" cy="25712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A184D33-2F2C-4874-17A8-01EA45D1FA17}"/>
              </a:ext>
            </a:extLst>
          </p:cNvPr>
          <p:cNvSpPr txBox="1"/>
          <p:nvPr/>
        </p:nvSpPr>
        <p:spPr>
          <a:xfrm>
            <a:off x="1313793" y="2473395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Immiscible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785EC1-A448-A024-4C26-29CA687E65CE}"/>
              </a:ext>
            </a:extLst>
          </p:cNvPr>
          <p:cNvSpPr txBox="1"/>
          <p:nvPr/>
        </p:nvSpPr>
        <p:spPr>
          <a:xfrm>
            <a:off x="1313793" y="3145245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Roton immiscible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3F1D1-C698-3AD3-B8A0-64410955D09F}"/>
              </a:ext>
            </a:extLst>
          </p:cNvPr>
          <p:cNvSpPr txBox="1"/>
          <p:nvPr/>
        </p:nvSpPr>
        <p:spPr>
          <a:xfrm>
            <a:off x="1332240" y="3905667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Miscible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31580-399C-AC40-9415-242C97B1FEE0}"/>
              </a:ext>
            </a:extLst>
          </p:cNvPr>
          <p:cNvSpPr txBox="1"/>
          <p:nvPr/>
        </p:nvSpPr>
        <p:spPr>
          <a:xfrm>
            <a:off x="8371490" y="2383963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Immiscible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FB7B11-E4FA-1E6F-5B69-8EF30D233D03}"/>
              </a:ext>
            </a:extLst>
          </p:cNvPr>
          <p:cNvSpPr txBox="1"/>
          <p:nvPr/>
        </p:nvSpPr>
        <p:spPr>
          <a:xfrm>
            <a:off x="8371490" y="3145245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Roton immiscible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09FD4-0C76-4F49-78B6-90AD9C64A2BD}"/>
              </a:ext>
            </a:extLst>
          </p:cNvPr>
          <p:cNvSpPr txBox="1"/>
          <p:nvPr/>
        </p:nvSpPr>
        <p:spPr>
          <a:xfrm>
            <a:off x="8371490" y="4000568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Miscible</a:t>
            </a:r>
          </a:p>
        </p:txBody>
      </p:sp>
    </p:spTree>
    <p:extLst>
      <p:ext uri="{BB962C8B-B14F-4D97-AF65-F5344CB8AC3E}">
        <p14:creationId xmlns:p14="http://schemas.microsoft.com/office/powerpoint/2010/main" val="1175293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5108-9568-1351-622F-32768B41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imbalance narrows </a:t>
            </a:r>
            <a:r>
              <a:rPr lang="en-US" dirty="0" err="1"/>
              <a:t>roton</a:t>
            </a:r>
            <a:r>
              <a:rPr lang="en-US" dirty="0"/>
              <a:t> immiscible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EE155-0F75-B99F-17E7-5121CB4A4922}"/>
                  </a:ext>
                </a:extLst>
              </p:cNvPr>
              <p:cNvSpPr txBox="1"/>
              <p:nvPr/>
            </p:nvSpPr>
            <p:spPr>
              <a:xfrm>
                <a:off x="2628900" y="5432850"/>
                <a:ext cx="5067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Smaller M</a:t>
                </a:r>
                <a:r>
                  <a:rPr lang="en-US" baseline="-25000" dirty="0"/>
                  <a:t>2</a:t>
                </a:r>
                <a:r>
                  <a:rPr lang="en-US" dirty="0"/>
                  <a:t> pushes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further away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EE155-0F75-B99F-17E7-5121CB4A4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5432850"/>
                <a:ext cx="5067300" cy="369332"/>
              </a:xfrm>
              <a:prstGeom prst="rect">
                <a:avLst/>
              </a:prstGeom>
              <a:blipFill>
                <a:blip r:embed="rId3"/>
                <a:stretch>
                  <a:fillRect l="-74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170ED8E-76DD-8247-C3F1-0AC175B64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915" y="2233887"/>
            <a:ext cx="6286731" cy="29687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E482DD-8E7A-9B6D-AEC3-A2313BF0FD2C}"/>
              </a:ext>
            </a:extLst>
          </p:cNvPr>
          <p:cNvSpPr txBox="1"/>
          <p:nvPr/>
        </p:nvSpPr>
        <p:spPr>
          <a:xfrm>
            <a:off x="4734199" y="4252934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Miscible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061CBA-9428-D387-66EF-7561BD352406}"/>
              </a:ext>
            </a:extLst>
          </p:cNvPr>
          <p:cNvSpPr txBox="1"/>
          <p:nvPr/>
        </p:nvSpPr>
        <p:spPr>
          <a:xfrm>
            <a:off x="4734199" y="3772271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Roton immiscible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BDB66C-3FCC-78D8-B964-654507C6C912}"/>
              </a:ext>
            </a:extLst>
          </p:cNvPr>
          <p:cNvSpPr txBox="1"/>
          <p:nvPr/>
        </p:nvSpPr>
        <p:spPr>
          <a:xfrm>
            <a:off x="4886599" y="2976068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Immiscible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87619-A44D-2A69-745B-7642AB04BCC7}"/>
              </a:ext>
            </a:extLst>
          </p:cNvPr>
          <p:cNvSpPr txBox="1"/>
          <p:nvPr/>
        </p:nvSpPr>
        <p:spPr>
          <a:xfrm>
            <a:off x="10274300" y="1027906"/>
            <a:ext cx="271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z1</a:t>
            </a:r>
            <a:r>
              <a:rPr lang="en-US" dirty="0"/>
              <a:t>=l</a:t>
            </a:r>
            <a:r>
              <a:rPr lang="en-US" baseline="-25000" dirty="0"/>
              <a:t>z2</a:t>
            </a:r>
          </a:p>
          <a:p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= n</a:t>
            </a:r>
            <a:r>
              <a:rPr lang="en-US" baseline="-25000" dirty="0"/>
              <a:t>2</a:t>
            </a:r>
            <a:r>
              <a:rPr lang="en-US" dirty="0"/>
              <a:t> = n</a:t>
            </a:r>
            <a:r>
              <a:rPr lang="en-US" baseline="-25000" dirty="0"/>
              <a:t>2D</a:t>
            </a:r>
          </a:p>
          <a:p>
            <a:r>
              <a:rPr lang="en-US" dirty="0"/>
              <a:t>b</a:t>
            </a:r>
            <a:r>
              <a:rPr lang="en-US" baseline="-25000" dirty="0"/>
              <a:t>11</a:t>
            </a:r>
            <a:r>
              <a:rPr lang="en-US" dirty="0"/>
              <a:t> = 64a</a:t>
            </a:r>
            <a:r>
              <a:rPr lang="en-US" baseline="-25000" dirty="0"/>
              <a:t>0</a:t>
            </a:r>
          </a:p>
          <a:p>
            <a:r>
              <a:rPr lang="en-US" dirty="0"/>
              <a:t>a</a:t>
            </a:r>
            <a:r>
              <a:rPr lang="en-US" baseline="-25000" dirty="0"/>
              <a:t>11 </a:t>
            </a:r>
            <a:r>
              <a:rPr lang="en-US" dirty="0"/>
              <a:t>= 68a</a:t>
            </a:r>
            <a:r>
              <a:rPr lang="en-US" baseline="-25000" dirty="0"/>
              <a:t>0</a:t>
            </a:r>
          </a:p>
          <a:p>
            <a:r>
              <a:rPr lang="en-US" dirty="0"/>
              <a:t>a</a:t>
            </a:r>
            <a:r>
              <a:rPr lang="en-US" baseline="-25000" dirty="0"/>
              <a:t>22 </a:t>
            </a:r>
            <a:r>
              <a:rPr lang="en-US" dirty="0"/>
              <a:t>= 80a</a:t>
            </a:r>
            <a:r>
              <a:rPr lang="en-US" baseline="-25000" dirty="0"/>
              <a:t>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09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40A8-F3E1-0CF2-C028-FFA92AD0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</a:t>
            </a:r>
            <a:r>
              <a:rPr lang="en-US" dirty="0" err="1"/>
              <a:t>roton</a:t>
            </a:r>
            <a:r>
              <a:rPr lang="en-US" dirty="0"/>
              <a:t> immiscible region saturates with increasing n</a:t>
            </a:r>
            <a:r>
              <a:rPr lang="en-US" baseline="-25000" dirty="0"/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3DE01-3ED6-A67A-661C-EFFBB981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520" y="2217025"/>
            <a:ext cx="7590960" cy="36057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B61201-DAAE-C95F-C6DB-F31F31B0892D}"/>
              </a:ext>
            </a:extLst>
          </p:cNvPr>
          <p:cNvSpPr txBox="1"/>
          <p:nvPr/>
        </p:nvSpPr>
        <p:spPr>
          <a:xfrm>
            <a:off x="4608075" y="2324427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Immiscible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E81CD-102B-1239-06EB-9F88EEB8ECE8}"/>
              </a:ext>
            </a:extLst>
          </p:cNvPr>
          <p:cNvSpPr txBox="1"/>
          <p:nvPr/>
        </p:nvSpPr>
        <p:spPr>
          <a:xfrm>
            <a:off x="4608075" y="3035430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Roton immiscible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14C29-BC16-D759-CBD8-6EEFDBA1784A}"/>
              </a:ext>
            </a:extLst>
          </p:cNvPr>
          <p:cNvSpPr txBox="1"/>
          <p:nvPr/>
        </p:nvSpPr>
        <p:spPr>
          <a:xfrm>
            <a:off x="4608075" y="4429080"/>
            <a:ext cx="192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B19C7-558B-19FF-FEB4-4AB58834A5A3}"/>
              </a:ext>
            </a:extLst>
          </p:cNvPr>
          <p:cNvSpPr txBox="1"/>
          <p:nvPr/>
        </p:nvSpPr>
        <p:spPr>
          <a:xfrm>
            <a:off x="10274300" y="1027906"/>
            <a:ext cx="271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z1</a:t>
            </a:r>
            <a:r>
              <a:rPr lang="en-US" dirty="0"/>
              <a:t>=l</a:t>
            </a:r>
            <a:r>
              <a:rPr lang="en-US" baseline="-25000" dirty="0"/>
              <a:t>z2</a:t>
            </a:r>
          </a:p>
          <a:p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 = M</a:t>
            </a:r>
            <a:r>
              <a:rPr lang="en-US" baseline="-25000" dirty="0"/>
              <a:t>1</a:t>
            </a:r>
            <a:r>
              <a:rPr lang="en-US" dirty="0"/>
              <a:t>/24</a:t>
            </a:r>
          </a:p>
          <a:p>
            <a:r>
              <a:rPr lang="en-US" dirty="0"/>
              <a:t>b</a:t>
            </a:r>
            <a:r>
              <a:rPr lang="en-US" baseline="-25000" dirty="0"/>
              <a:t>11</a:t>
            </a:r>
            <a:r>
              <a:rPr lang="en-US" dirty="0"/>
              <a:t> = 64a</a:t>
            </a:r>
            <a:r>
              <a:rPr lang="en-US" baseline="-25000" dirty="0"/>
              <a:t>0</a:t>
            </a:r>
          </a:p>
          <a:p>
            <a:r>
              <a:rPr lang="en-US" dirty="0"/>
              <a:t>a</a:t>
            </a:r>
            <a:r>
              <a:rPr lang="en-US" baseline="-25000" dirty="0"/>
              <a:t>11 </a:t>
            </a:r>
            <a:r>
              <a:rPr lang="en-US" dirty="0"/>
              <a:t>= 68a</a:t>
            </a:r>
            <a:r>
              <a:rPr lang="en-US" baseline="-25000" dirty="0"/>
              <a:t>0</a:t>
            </a:r>
          </a:p>
          <a:p>
            <a:r>
              <a:rPr lang="en-US" dirty="0"/>
              <a:t>a</a:t>
            </a:r>
            <a:r>
              <a:rPr lang="en-US" baseline="-25000" dirty="0"/>
              <a:t>22 </a:t>
            </a:r>
            <a:r>
              <a:rPr lang="en-US" dirty="0"/>
              <a:t>= 80a</a:t>
            </a:r>
            <a:r>
              <a:rPr lang="en-US" baseline="-25000" dirty="0"/>
              <a:t>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212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50BD-E250-145E-0DCC-70D88695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</a:t>
            </a:r>
            <a:r>
              <a:rPr lang="en-US" dirty="0" err="1"/>
              <a:t>roton</a:t>
            </a:r>
            <a:r>
              <a:rPr lang="en-US" dirty="0"/>
              <a:t> immiscible region saturates with Li density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2BB69-103E-5C78-DC26-852B0BFD3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42601" cy="4351338"/>
          </a:xfrm>
        </p:spPr>
        <p:txBody>
          <a:bodyPr>
            <a:normAutofit/>
          </a:bodyPr>
          <a:lstStyle/>
          <a:p>
            <a:r>
              <a:rPr lang="en-US" dirty="0"/>
              <a:t>Recall condition for instability:</a:t>
            </a:r>
          </a:p>
          <a:p>
            <a:endParaRPr lang="en-US" baseline="30000" dirty="0"/>
          </a:p>
          <a:p>
            <a:r>
              <a:rPr lang="en-US" dirty="0"/>
              <a:t>For </a:t>
            </a:r>
            <a:r>
              <a:rPr lang="en-US" dirty="0" err="1"/>
              <a:t>roton</a:t>
            </a:r>
            <a:r>
              <a:rPr lang="en-US" dirty="0"/>
              <a:t> immiscibility, optimal q (q</a:t>
            </a:r>
            <a:r>
              <a:rPr lang="en-US" baseline="30000" dirty="0"/>
              <a:t>*</a:t>
            </a:r>
            <a:r>
              <a:rPr lang="en-US" dirty="0"/>
              <a:t>) is mostly determined by dipolar interaction (weak dependence on n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If n</a:t>
            </a:r>
            <a:r>
              <a:rPr lang="en-US" baseline="-25000" dirty="0"/>
              <a:t>2</a:t>
            </a:r>
            <a:r>
              <a:rPr lang="en-US" dirty="0"/>
              <a:t> is sufficiently large, near q</a:t>
            </a:r>
            <a:r>
              <a:rPr lang="en-US" baseline="30000" dirty="0"/>
              <a:t>*</a:t>
            </a:r>
            <a:r>
              <a:rPr lang="en-US" dirty="0"/>
              <a:t>,</a:t>
            </a:r>
          </a:p>
          <a:p>
            <a:endParaRPr lang="en-US" dirty="0"/>
          </a:p>
          <a:p>
            <a:r>
              <a:rPr lang="en-US" dirty="0"/>
              <a:t>Thus, n</a:t>
            </a:r>
            <a:r>
              <a:rPr lang="en-US" baseline="-25000" dirty="0"/>
              <a:t>2</a:t>
            </a:r>
            <a:r>
              <a:rPr lang="en-US" dirty="0"/>
              <a:t> dependence drops out roughly when species 2 still has sound-like dispersion at characteristic length-scale set by dipolar interaction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1C673-E363-9016-F182-C1CB0B21F2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65" t="9610" b="10964"/>
          <a:stretch>
            <a:fillRect/>
          </a:stretch>
        </p:blipFill>
        <p:spPr>
          <a:xfrm>
            <a:off x="6420482" y="3715332"/>
            <a:ext cx="3115666" cy="9202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448AE5-B53F-4A7A-A9D8-7C138D6AB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314" y="1473051"/>
            <a:ext cx="5225847" cy="12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81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CEEA-C48B-0A2E-B551-9C7E911F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in harmonic trap: GPE solver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4B996-6270-5EB1-638B-3E6A34054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522843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Propagate two wavefunctions in imaginary time</a:t>
                </a:r>
              </a:p>
              <a:p>
                <a:r>
                  <a:rPr lang="en-US" dirty="0"/>
                  <a:t>Ignore cross-term when calculating LHY correction</a:t>
                </a:r>
              </a:p>
              <a:p>
                <a:r>
                  <a:rPr lang="en-US" dirty="0"/>
                  <a:t>Basic benchmarks:</a:t>
                </a:r>
              </a:p>
              <a:p>
                <a:pPr lvl="1"/>
                <a:r>
                  <a:rPr lang="en-US" dirty="0"/>
                  <a:t>Reproduces miscible-immiscible transition in box: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Reduces to single-species solver if N</a:t>
                </a:r>
                <a:r>
                  <a:rPr lang="en-US" baseline="-25000" dirty="0"/>
                  <a:t>1</a:t>
                </a:r>
                <a:r>
                  <a:rPr lang="en-US" dirty="0"/>
                  <a:t> &gt;&gt; N</a:t>
                </a:r>
                <a:r>
                  <a:rPr lang="en-US" baseline="-25000" dirty="0"/>
                  <a:t>2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4B996-6270-5EB1-638B-3E6A34054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522843" cy="5032375"/>
              </a:xfrm>
              <a:blipFill>
                <a:blip r:embed="rId2"/>
                <a:stretch>
                  <a:fillRect l="-2069" t="-2015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ADCEA44-4C55-447C-4F45-E70F673A9A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5" t="2681" r="6625" b="5244"/>
          <a:stretch>
            <a:fillRect/>
          </a:stretch>
        </p:blipFill>
        <p:spPr>
          <a:xfrm>
            <a:off x="6361043" y="1503034"/>
            <a:ext cx="5522843" cy="42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3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162659-0C21-B60A-FE69-D3BA0749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032812BC-2087-2BDB-327F-3C0C33240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4097" r="25790" b="88255"/>
          <a:stretch>
            <a:fillRect/>
          </a:stretch>
        </p:blipFill>
        <p:spPr>
          <a:xfrm>
            <a:off x="-426066" y="1209009"/>
            <a:ext cx="9289540" cy="541777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3AF7F0-7FE9-CFEF-3C98-0775A2CD752A}"/>
              </a:ext>
            </a:extLst>
          </p:cNvPr>
          <p:cNvCxnSpPr>
            <a:cxnSpLocks/>
          </p:cNvCxnSpPr>
          <p:nvPr/>
        </p:nvCxnSpPr>
        <p:spPr>
          <a:xfrm>
            <a:off x="1521315" y="1660668"/>
            <a:ext cx="734215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91F7194-3F63-C31D-7171-71789DD2E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35" y="4300564"/>
            <a:ext cx="3409913" cy="25574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DDB522-2E18-6055-E58B-F127BDF5E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429" y="4315039"/>
            <a:ext cx="3409913" cy="25574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872752-2A64-8660-FB76-904240F1D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9" y="98941"/>
            <a:ext cx="10515600" cy="1325563"/>
          </a:xfrm>
        </p:spPr>
        <p:txBody>
          <a:bodyPr/>
          <a:lstStyle/>
          <a:p>
            <a:r>
              <a:rPr lang="en-US" dirty="0"/>
              <a:t>ADSS paper: Dy-Dy mixture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55A1D-AF6D-E216-FB05-C895194A3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1111" b="47346"/>
          <a:stretch>
            <a:fillRect/>
          </a:stretch>
        </p:blipFill>
        <p:spPr>
          <a:xfrm>
            <a:off x="8863474" y="49946"/>
            <a:ext cx="3328526" cy="1752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FFB323-E217-968F-9254-100DADFBD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35" y="1919785"/>
            <a:ext cx="3409913" cy="25574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7119D1-9394-F2B3-5894-112FF66C3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3429" y="1912462"/>
            <a:ext cx="3409913" cy="25574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E56DC-CC33-9F62-3DF1-BBEDF849C4F0}"/>
              </a:ext>
            </a:extLst>
          </p:cNvPr>
          <p:cNvSpPr txBox="1"/>
          <p:nvPr/>
        </p:nvSpPr>
        <p:spPr>
          <a:xfrm>
            <a:off x="3050498" y="340509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4B6C4-C13B-4628-3F8C-98B6FA401F63}"/>
              </a:ext>
            </a:extLst>
          </p:cNvPr>
          <p:cNvSpPr txBox="1"/>
          <p:nvPr/>
        </p:nvSpPr>
        <p:spPr>
          <a:xfrm>
            <a:off x="3020291" y="332422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6" name="Picture 25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9DC55299-063A-6940-DBC3-A9248F33E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342" y="4300564"/>
            <a:ext cx="3409913" cy="2557434"/>
          </a:xfrm>
          <a:prstGeom prst="rect">
            <a:avLst/>
          </a:prstGeom>
        </p:spPr>
      </p:pic>
      <p:pic>
        <p:nvPicPr>
          <p:cNvPr id="28" name="Picture 27" descr="A graph of a graph&#10;&#10;AI-generated content may be incorrect.">
            <a:extLst>
              <a:ext uri="{FF2B5EF4-FFF2-40B4-BE49-F238E27FC236}">
                <a16:creationId xmlns:a16="http://schemas.microsoft.com/office/drawing/2014/main" id="{BB24D667-E2E6-DEA3-71AE-D6D17589D3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342" y="1924755"/>
            <a:ext cx="3409914" cy="2557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315508-7BD6-C7B6-A22E-E1717674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98" r="28683" b="88220"/>
          <a:stretch>
            <a:fillRect/>
          </a:stretch>
        </p:blipFill>
        <p:spPr>
          <a:xfrm>
            <a:off x="-426066" y="1209009"/>
            <a:ext cx="8927286" cy="54422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8C1233-4C3F-28BD-BFB9-93D529844D86}"/>
              </a:ext>
            </a:extLst>
          </p:cNvPr>
          <p:cNvCxnSpPr>
            <a:cxnSpLocks/>
          </p:cNvCxnSpPr>
          <p:nvPr/>
        </p:nvCxnSpPr>
        <p:spPr>
          <a:xfrm>
            <a:off x="1521315" y="1660668"/>
            <a:ext cx="697990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CEF8808-9A9D-729B-AC2E-DBE322BBDF59}"/>
              </a:ext>
            </a:extLst>
          </p:cNvPr>
          <p:cNvSpPr/>
          <p:nvPr/>
        </p:nvSpPr>
        <p:spPr>
          <a:xfrm>
            <a:off x="1439762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36FA54-9B1C-7176-63F2-66E2EB760737}"/>
              </a:ext>
            </a:extLst>
          </p:cNvPr>
          <p:cNvSpPr/>
          <p:nvPr/>
        </p:nvSpPr>
        <p:spPr>
          <a:xfrm>
            <a:off x="4268860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0F7753-18BB-07B9-C990-881E8622CF3A}"/>
              </a:ext>
            </a:extLst>
          </p:cNvPr>
          <p:cNvSpPr/>
          <p:nvPr/>
        </p:nvSpPr>
        <p:spPr>
          <a:xfrm>
            <a:off x="2852928" y="1591056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B8BD7A4-FA7E-3567-A505-48E3EC66EE22}"/>
              </a:ext>
            </a:extLst>
          </p:cNvPr>
          <p:cNvCxnSpPr>
            <a:cxnSpLocks/>
          </p:cNvCxnSpPr>
          <p:nvPr/>
        </p:nvCxnSpPr>
        <p:spPr>
          <a:xfrm flipH="1">
            <a:off x="796329" y="1700634"/>
            <a:ext cx="703644" cy="404491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85B5FA5-0315-951B-2779-F70A74E61697}"/>
              </a:ext>
            </a:extLst>
          </p:cNvPr>
          <p:cNvCxnSpPr>
            <a:cxnSpLocks/>
          </p:cNvCxnSpPr>
          <p:nvPr/>
        </p:nvCxnSpPr>
        <p:spPr>
          <a:xfrm>
            <a:off x="2990148" y="1733924"/>
            <a:ext cx="1090474" cy="41935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3C1752-DA50-705A-8B14-129BA85C297A}"/>
              </a:ext>
            </a:extLst>
          </p:cNvPr>
          <p:cNvCxnSpPr>
            <a:cxnSpLocks/>
          </p:cNvCxnSpPr>
          <p:nvPr/>
        </p:nvCxnSpPr>
        <p:spPr>
          <a:xfrm>
            <a:off x="1589477" y="1700634"/>
            <a:ext cx="1750445" cy="40414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21A83F0-F3FD-8B00-2350-8B82EA03ED47}"/>
              </a:ext>
            </a:extLst>
          </p:cNvPr>
          <p:cNvCxnSpPr>
            <a:cxnSpLocks/>
          </p:cNvCxnSpPr>
          <p:nvPr/>
        </p:nvCxnSpPr>
        <p:spPr>
          <a:xfrm>
            <a:off x="2977382" y="1708138"/>
            <a:ext cx="3614434" cy="452463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79F0F41-78E5-9921-3F6A-470D02E3DCEB}"/>
              </a:ext>
            </a:extLst>
          </p:cNvPr>
          <p:cNvCxnSpPr>
            <a:cxnSpLocks/>
          </p:cNvCxnSpPr>
          <p:nvPr/>
        </p:nvCxnSpPr>
        <p:spPr>
          <a:xfrm>
            <a:off x="4351896" y="1695844"/>
            <a:ext cx="3080812" cy="490967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F9A72F-7569-C33A-EF50-1C4D0AF1FE9E}"/>
              </a:ext>
            </a:extLst>
          </p:cNvPr>
          <p:cNvCxnSpPr>
            <a:cxnSpLocks/>
          </p:cNvCxnSpPr>
          <p:nvPr/>
        </p:nvCxnSpPr>
        <p:spPr>
          <a:xfrm>
            <a:off x="4379100" y="1681452"/>
            <a:ext cx="5715054" cy="47914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E83A7F-8B27-37CE-C914-1427000526E2}"/>
              </a:ext>
            </a:extLst>
          </p:cNvPr>
          <p:cNvCxnSpPr>
            <a:cxnSpLocks/>
          </p:cNvCxnSpPr>
          <p:nvPr/>
        </p:nvCxnSpPr>
        <p:spPr>
          <a:xfrm>
            <a:off x="9370503" y="396746"/>
            <a:ext cx="23069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225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F0FB-F08A-8A5B-9AE1-03CA6FC1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graph of a graph&#10;&#10;AI-generated content may be incorrect.">
            <a:extLst>
              <a:ext uri="{FF2B5EF4-FFF2-40B4-BE49-F238E27FC236}">
                <a16:creationId xmlns:a16="http://schemas.microsoft.com/office/drawing/2014/main" id="{EE4369AD-C3D5-897F-B990-68EDF249B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806" y="4300565"/>
            <a:ext cx="3409912" cy="2557434"/>
          </a:xfrm>
          <a:prstGeom prst="rect">
            <a:avLst/>
          </a:prstGeom>
        </p:spPr>
      </p:pic>
      <p:pic>
        <p:nvPicPr>
          <p:cNvPr id="39" name="Picture 38" descr="A graph of a graph&#10;&#10;AI-generated content may be incorrect.">
            <a:extLst>
              <a:ext uri="{FF2B5EF4-FFF2-40B4-BE49-F238E27FC236}">
                <a16:creationId xmlns:a16="http://schemas.microsoft.com/office/drawing/2014/main" id="{8BADB482-CB1F-E5E4-11B2-97A822155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806" y="1968264"/>
            <a:ext cx="3409912" cy="2557434"/>
          </a:xfrm>
          <a:prstGeom prst="rect">
            <a:avLst/>
          </a:prstGeom>
        </p:spPr>
      </p:pic>
      <p:pic>
        <p:nvPicPr>
          <p:cNvPr id="30" name="Picture 29" descr="A graph of a function&#10;&#10;AI-generated content may be incorrect.">
            <a:extLst>
              <a:ext uri="{FF2B5EF4-FFF2-40B4-BE49-F238E27FC236}">
                <a16:creationId xmlns:a16="http://schemas.microsoft.com/office/drawing/2014/main" id="{7D975EC9-CFC9-551A-2842-9B7B3D98F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894" y="4300566"/>
            <a:ext cx="3409912" cy="2557434"/>
          </a:xfrm>
          <a:prstGeom prst="rect">
            <a:avLst/>
          </a:prstGeom>
        </p:spPr>
      </p:pic>
      <p:pic>
        <p:nvPicPr>
          <p:cNvPr id="31" name="Picture 30" descr="A graph of a graph&#10;&#10;AI-generated content may be incorrect.">
            <a:extLst>
              <a:ext uri="{FF2B5EF4-FFF2-40B4-BE49-F238E27FC236}">
                <a16:creationId xmlns:a16="http://schemas.microsoft.com/office/drawing/2014/main" id="{01DD120F-172A-E0D6-B105-4A3E2B73F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893" y="1968263"/>
            <a:ext cx="3409913" cy="2557435"/>
          </a:xfrm>
          <a:prstGeom prst="rect">
            <a:avLst/>
          </a:prstGeom>
        </p:spPr>
      </p:pic>
      <p:pic>
        <p:nvPicPr>
          <p:cNvPr id="27" name="Picture 26" descr="A graph of a function&#10;&#10;AI-generated content may be incorrect.">
            <a:extLst>
              <a:ext uri="{FF2B5EF4-FFF2-40B4-BE49-F238E27FC236}">
                <a16:creationId xmlns:a16="http://schemas.microsoft.com/office/drawing/2014/main" id="{81FE3737-672C-6C07-7C09-A1FFABBCC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87" y="4300565"/>
            <a:ext cx="3409913" cy="2557435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330789B7-1ABD-FB6F-7D05-7FAE9F0B9F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087" y="1978052"/>
            <a:ext cx="3409913" cy="25574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B2BFD9-C55B-6FE4-2BB1-4BF405D4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9" y="98941"/>
            <a:ext cx="10515600" cy="1325563"/>
          </a:xfrm>
        </p:spPr>
        <p:txBody>
          <a:bodyPr/>
          <a:lstStyle/>
          <a:p>
            <a:r>
              <a:rPr lang="en-US" dirty="0"/>
              <a:t>ADSS paper: Dy-Dy mixture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2F8D9-05D0-FFE3-E87F-0821A315539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1111" b="47346"/>
          <a:stretch>
            <a:fillRect/>
          </a:stretch>
        </p:blipFill>
        <p:spPr>
          <a:xfrm>
            <a:off x="8863474" y="49946"/>
            <a:ext cx="3328526" cy="17528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4AC876-DFE9-7F81-5211-AD6E08587C41}"/>
              </a:ext>
            </a:extLst>
          </p:cNvPr>
          <p:cNvSpPr txBox="1"/>
          <p:nvPr/>
        </p:nvSpPr>
        <p:spPr>
          <a:xfrm>
            <a:off x="3050498" y="340509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186B4C-628E-EFCC-BE93-8FC9075BD8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t="4097" r="25790" b="88255"/>
          <a:stretch>
            <a:fillRect/>
          </a:stretch>
        </p:blipFill>
        <p:spPr>
          <a:xfrm>
            <a:off x="-426066" y="1209009"/>
            <a:ext cx="9289540" cy="54177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41C5E4-BD05-9A73-C31F-4DBB1C8276BB}"/>
              </a:ext>
            </a:extLst>
          </p:cNvPr>
          <p:cNvCxnSpPr>
            <a:cxnSpLocks/>
          </p:cNvCxnSpPr>
          <p:nvPr/>
        </p:nvCxnSpPr>
        <p:spPr>
          <a:xfrm>
            <a:off x="1521315" y="1660668"/>
            <a:ext cx="734215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56AE8B2-C028-43D5-32E8-846F40107750}"/>
              </a:ext>
            </a:extLst>
          </p:cNvPr>
          <p:cNvSpPr/>
          <p:nvPr/>
        </p:nvSpPr>
        <p:spPr>
          <a:xfrm>
            <a:off x="5724144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E31F813-A796-596E-E933-07498E2A2A1B}"/>
              </a:ext>
            </a:extLst>
          </p:cNvPr>
          <p:cNvSpPr/>
          <p:nvPr/>
        </p:nvSpPr>
        <p:spPr>
          <a:xfrm>
            <a:off x="7144093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5236501-D594-F232-87DB-42979D8E36D7}"/>
              </a:ext>
            </a:extLst>
          </p:cNvPr>
          <p:cNvSpPr/>
          <p:nvPr/>
        </p:nvSpPr>
        <p:spPr>
          <a:xfrm>
            <a:off x="8558784" y="1591056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A7DB59-66F5-F268-D936-AAA7ABC4B33A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812989" y="1731740"/>
            <a:ext cx="4992708" cy="540616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95B166-6859-1F2A-39CE-416DF93FE3F9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3492594" y="1710923"/>
            <a:ext cx="2255436" cy="56143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85E6E8A-157C-3A32-78A0-851F5482E7E8}"/>
              </a:ext>
            </a:extLst>
          </p:cNvPr>
          <p:cNvCxnSpPr>
            <a:cxnSpLocks/>
            <a:stCxn id="32" idx="4"/>
          </p:cNvCxnSpPr>
          <p:nvPr/>
        </p:nvCxnSpPr>
        <p:spPr>
          <a:xfrm flipH="1">
            <a:off x="6704484" y="1731740"/>
            <a:ext cx="521162" cy="551916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F892FD-40FA-5FE0-D4BD-E6ECA9E3F9FD}"/>
              </a:ext>
            </a:extLst>
          </p:cNvPr>
          <p:cNvCxnSpPr>
            <a:cxnSpLocks/>
            <a:stCxn id="33" idx="4"/>
          </p:cNvCxnSpPr>
          <p:nvPr/>
        </p:nvCxnSpPr>
        <p:spPr>
          <a:xfrm flipH="1">
            <a:off x="7443525" y="1733201"/>
            <a:ext cx="1196812" cy="550455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A464D6-8202-17BF-42B8-D3D32395381F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8640337" y="1733201"/>
            <a:ext cx="1461466" cy="550455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A267F0-0804-4626-43C4-9C20841F60E7}"/>
              </a:ext>
            </a:extLst>
          </p:cNvPr>
          <p:cNvCxnSpPr>
            <a:cxnSpLocks/>
          </p:cNvCxnSpPr>
          <p:nvPr/>
        </p:nvCxnSpPr>
        <p:spPr>
          <a:xfrm>
            <a:off x="9370503" y="396746"/>
            <a:ext cx="23069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B4DE17-532E-B087-C54C-88E39F8765B5}"/>
              </a:ext>
            </a:extLst>
          </p:cNvPr>
          <p:cNvCxnSpPr>
            <a:cxnSpLocks/>
          </p:cNvCxnSpPr>
          <p:nvPr/>
        </p:nvCxnSpPr>
        <p:spPr>
          <a:xfrm flipH="1">
            <a:off x="4080016" y="1678254"/>
            <a:ext cx="3107303" cy="587817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159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CC4117-221C-E444-7FBA-FC5B6497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4F35C2-81E0-9BE7-3A46-AE5E31804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780" y="4271049"/>
            <a:ext cx="3409912" cy="2557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430D97-7658-E225-F37F-DFCDBF305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780" y="1891078"/>
            <a:ext cx="3409913" cy="2557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21A0E-00EA-96FA-72EE-31368A595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866" y="4300565"/>
            <a:ext cx="3409914" cy="25574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C229D-985E-A121-5E41-77412FD5C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866" y="1901537"/>
            <a:ext cx="3409914" cy="2557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6276B-99C5-ACAC-04B0-3215F3CF1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474" y="4271049"/>
            <a:ext cx="3409914" cy="2557435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445BD2A0-575B-CF02-510D-93CDD9591E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474" y="1901538"/>
            <a:ext cx="3409914" cy="25574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E582E1-6C0B-C65D-8B4F-E80FC032F1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59" t="23503" r="25790" b="71692"/>
          <a:stretch>
            <a:fillRect/>
          </a:stretch>
        </p:blipFill>
        <p:spPr>
          <a:xfrm>
            <a:off x="620486" y="1424504"/>
            <a:ext cx="8242988" cy="340408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4BCE895-FC0D-9915-98DC-A0C423E35545}"/>
              </a:ext>
            </a:extLst>
          </p:cNvPr>
          <p:cNvCxnSpPr>
            <a:cxnSpLocks/>
          </p:cNvCxnSpPr>
          <p:nvPr/>
        </p:nvCxnSpPr>
        <p:spPr>
          <a:xfrm>
            <a:off x="1521315" y="1660668"/>
            <a:ext cx="734215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6AB06F-8C4E-AAFC-6914-F723044A4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9" y="98941"/>
            <a:ext cx="10515600" cy="1325563"/>
          </a:xfrm>
        </p:spPr>
        <p:txBody>
          <a:bodyPr/>
          <a:lstStyle/>
          <a:p>
            <a:r>
              <a:rPr lang="en-US" dirty="0"/>
              <a:t>ADSS paper: Dy-Dy mixture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69DD2-AB35-0BFF-70BF-4072CF1AC3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1111" b="47346"/>
          <a:stretch>
            <a:fillRect/>
          </a:stretch>
        </p:blipFill>
        <p:spPr>
          <a:xfrm>
            <a:off x="8863474" y="49946"/>
            <a:ext cx="3328526" cy="17528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DC1F85B-D270-B083-00DB-A943AAAF20C6}"/>
              </a:ext>
            </a:extLst>
          </p:cNvPr>
          <p:cNvSpPr txBox="1"/>
          <p:nvPr/>
        </p:nvSpPr>
        <p:spPr>
          <a:xfrm>
            <a:off x="3020291" y="332422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07DEB9-1B9A-0D2A-7A5D-DC0DA34FBA9C}"/>
              </a:ext>
            </a:extLst>
          </p:cNvPr>
          <p:cNvCxnSpPr>
            <a:cxnSpLocks/>
          </p:cNvCxnSpPr>
          <p:nvPr/>
        </p:nvCxnSpPr>
        <p:spPr>
          <a:xfrm>
            <a:off x="1521315" y="1660668"/>
            <a:ext cx="697990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C351B4C-36CF-C203-7541-7C89A082AF24}"/>
              </a:ext>
            </a:extLst>
          </p:cNvPr>
          <p:cNvSpPr/>
          <p:nvPr/>
        </p:nvSpPr>
        <p:spPr>
          <a:xfrm>
            <a:off x="1439762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4826C07-3E02-2820-79FA-0907E1902A07}"/>
              </a:ext>
            </a:extLst>
          </p:cNvPr>
          <p:cNvSpPr/>
          <p:nvPr/>
        </p:nvSpPr>
        <p:spPr>
          <a:xfrm>
            <a:off x="4268860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697AECF-1C12-78B2-DB33-24488D37BDFF}"/>
              </a:ext>
            </a:extLst>
          </p:cNvPr>
          <p:cNvSpPr/>
          <p:nvPr/>
        </p:nvSpPr>
        <p:spPr>
          <a:xfrm>
            <a:off x="2852928" y="1591056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8E42DF-AFD5-80E3-6F9B-591D32E7FF61}"/>
              </a:ext>
            </a:extLst>
          </p:cNvPr>
          <p:cNvCxnSpPr>
            <a:cxnSpLocks/>
          </p:cNvCxnSpPr>
          <p:nvPr/>
        </p:nvCxnSpPr>
        <p:spPr>
          <a:xfrm flipH="1">
            <a:off x="796329" y="1700634"/>
            <a:ext cx="703644" cy="404491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5363E9-323D-D939-8EE4-D3D033314AC1}"/>
              </a:ext>
            </a:extLst>
          </p:cNvPr>
          <p:cNvCxnSpPr>
            <a:cxnSpLocks/>
          </p:cNvCxnSpPr>
          <p:nvPr/>
        </p:nvCxnSpPr>
        <p:spPr>
          <a:xfrm>
            <a:off x="2990148" y="1733924"/>
            <a:ext cx="1090474" cy="41935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F5862B0-9129-E2BB-F743-7FE16C01825F}"/>
              </a:ext>
            </a:extLst>
          </p:cNvPr>
          <p:cNvCxnSpPr>
            <a:cxnSpLocks/>
          </p:cNvCxnSpPr>
          <p:nvPr/>
        </p:nvCxnSpPr>
        <p:spPr>
          <a:xfrm>
            <a:off x="1589477" y="1700634"/>
            <a:ext cx="1750445" cy="40414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8C44DAF-D73F-7D7E-BFDE-EB5B59806D6D}"/>
              </a:ext>
            </a:extLst>
          </p:cNvPr>
          <p:cNvCxnSpPr>
            <a:cxnSpLocks/>
          </p:cNvCxnSpPr>
          <p:nvPr/>
        </p:nvCxnSpPr>
        <p:spPr>
          <a:xfrm>
            <a:off x="2977382" y="1708138"/>
            <a:ext cx="3614434" cy="452463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7081B8-183A-3396-519F-10E0D357E23F}"/>
              </a:ext>
            </a:extLst>
          </p:cNvPr>
          <p:cNvCxnSpPr>
            <a:cxnSpLocks/>
          </p:cNvCxnSpPr>
          <p:nvPr/>
        </p:nvCxnSpPr>
        <p:spPr>
          <a:xfrm>
            <a:off x="4351896" y="1695844"/>
            <a:ext cx="3080812" cy="490967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9B3C625-841C-D390-8507-3883A6EB0A9B}"/>
              </a:ext>
            </a:extLst>
          </p:cNvPr>
          <p:cNvCxnSpPr>
            <a:cxnSpLocks/>
          </p:cNvCxnSpPr>
          <p:nvPr/>
        </p:nvCxnSpPr>
        <p:spPr>
          <a:xfrm>
            <a:off x="4379100" y="1681452"/>
            <a:ext cx="5715054" cy="47914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24DC9E-8009-C4A9-9269-0DF4CF958943}"/>
              </a:ext>
            </a:extLst>
          </p:cNvPr>
          <p:cNvCxnSpPr>
            <a:cxnSpLocks/>
          </p:cNvCxnSpPr>
          <p:nvPr/>
        </p:nvCxnSpPr>
        <p:spPr>
          <a:xfrm>
            <a:off x="9377796" y="945386"/>
            <a:ext cx="23069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399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C5C0-E5EA-A7F9-EE40-D38FAF9C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87DC10D-76E6-282B-9AD9-2779C247C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943" y="4297680"/>
            <a:ext cx="3413755" cy="25603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2E1ED8-FFB2-6559-5271-1339D64D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028" y="1978191"/>
            <a:ext cx="3413755" cy="2560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C564B0-6A9E-B91B-3309-E322428BB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271" y="4291394"/>
            <a:ext cx="3413757" cy="2560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97541B-0B55-6B0C-2C68-485DEDDF3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272" y="1978193"/>
            <a:ext cx="3413756" cy="2560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4381C6-6D91-9240-B121-6E75D8D3D1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211" y="4297680"/>
            <a:ext cx="3413759" cy="2560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9C2BEE-06BE-C90C-094E-9A1499117F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12" y="1978193"/>
            <a:ext cx="3413758" cy="25603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28383-9830-4DEF-1479-A9DAAACC0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9" y="98941"/>
            <a:ext cx="10515600" cy="1325563"/>
          </a:xfrm>
        </p:spPr>
        <p:txBody>
          <a:bodyPr/>
          <a:lstStyle/>
          <a:p>
            <a:r>
              <a:rPr lang="en-US" dirty="0"/>
              <a:t>ADSS paper: Dy-Dy mixture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BF184-6BA3-1607-64F3-AADFB43C8AA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1111" b="47346"/>
          <a:stretch>
            <a:fillRect/>
          </a:stretch>
        </p:blipFill>
        <p:spPr>
          <a:xfrm>
            <a:off x="8863474" y="49946"/>
            <a:ext cx="3328526" cy="17528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AA180D-8FFE-A762-CB7D-1BF3C29E64A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59" t="23503" r="25790" b="71692"/>
          <a:stretch>
            <a:fillRect/>
          </a:stretch>
        </p:blipFill>
        <p:spPr>
          <a:xfrm>
            <a:off x="620486" y="1424504"/>
            <a:ext cx="8242988" cy="34040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A49610-9314-44FB-9D09-3997CE663BF1}"/>
              </a:ext>
            </a:extLst>
          </p:cNvPr>
          <p:cNvCxnSpPr>
            <a:cxnSpLocks/>
          </p:cNvCxnSpPr>
          <p:nvPr/>
        </p:nvCxnSpPr>
        <p:spPr>
          <a:xfrm>
            <a:off x="1521315" y="1660668"/>
            <a:ext cx="734215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BB97370-7806-D0D6-7E6A-7878EA5E567A}"/>
              </a:ext>
            </a:extLst>
          </p:cNvPr>
          <p:cNvSpPr/>
          <p:nvPr/>
        </p:nvSpPr>
        <p:spPr>
          <a:xfrm>
            <a:off x="5724144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2F9A20C-F409-1863-67DC-3FF348C1394D}"/>
              </a:ext>
            </a:extLst>
          </p:cNvPr>
          <p:cNvSpPr/>
          <p:nvPr/>
        </p:nvSpPr>
        <p:spPr>
          <a:xfrm>
            <a:off x="7144093" y="1589595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FCEB56F-4A6D-8E01-7A43-23B9F6E88853}"/>
              </a:ext>
            </a:extLst>
          </p:cNvPr>
          <p:cNvSpPr/>
          <p:nvPr/>
        </p:nvSpPr>
        <p:spPr>
          <a:xfrm>
            <a:off x="8558784" y="1591056"/>
            <a:ext cx="163106" cy="1421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CC84C8-EF7C-84F7-11AF-02B3A4FD5CBA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812989" y="1731740"/>
            <a:ext cx="4992708" cy="540616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520A6D-7203-3A44-62DA-20447956254B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3492594" y="1710923"/>
            <a:ext cx="2255436" cy="56143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118518E-3597-2380-0C47-558FA2B60972}"/>
              </a:ext>
            </a:extLst>
          </p:cNvPr>
          <p:cNvCxnSpPr>
            <a:cxnSpLocks/>
            <a:stCxn id="32" idx="4"/>
          </p:cNvCxnSpPr>
          <p:nvPr/>
        </p:nvCxnSpPr>
        <p:spPr>
          <a:xfrm flipH="1">
            <a:off x="6704484" y="1731740"/>
            <a:ext cx="521162" cy="551916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34D14CB-43A4-DD06-7785-99A43EB386CA}"/>
              </a:ext>
            </a:extLst>
          </p:cNvPr>
          <p:cNvCxnSpPr>
            <a:cxnSpLocks/>
            <a:stCxn id="33" idx="4"/>
          </p:cNvCxnSpPr>
          <p:nvPr/>
        </p:nvCxnSpPr>
        <p:spPr>
          <a:xfrm flipH="1">
            <a:off x="7443525" y="1733201"/>
            <a:ext cx="1196812" cy="550455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A76FA7D-42BF-6263-F490-0D9A642F3D11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8640337" y="1733201"/>
            <a:ext cx="1461466" cy="550455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079919-4F7C-E96C-80DA-05216D75E49F}"/>
              </a:ext>
            </a:extLst>
          </p:cNvPr>
          <p:cNvCxnSpPr>
            <a:cxnSpLocks/>
          </p:cNvCxnSpPr>
          <p:nvPr/>
        </p:nvCxnSpPr>
        <p:spPr>
          <a:xfrm>
            <a:off x="9377796" y="945386"/>
            <a:ext cx="23069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20AD3E-BDE2-D59E-3320-497767CB789E}"/>
              </a:ext>
            </a:extLst>
          </p:cNvPr>
          <p:cNvCxnSpPr>
            <a:cxnSpLocks/>
          </p:cNvCxnSpPr>
          <p:nvPr/>
        </p:nvCxnSpPr>
        <p:spPr>
          <a:xfrm flipH="1">
            <a:off x="4080016" y="1678254"/>
            <a:ext cx="3107303" cy="587817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76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C07F-8B2C-30FE-0AE5-3149FC49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ADSS paper: Er-Er spin mixture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CD4E47-D2AE-9606-A925-481579F0667A}"/>
              </a:ext>
            </a:extLst>
          </p:cNvPr>
          <p:cNvSpPr txBox="1"/>
          <p:nvPr/>
        </p:nvSpPr>
        <p:spPr>
          <a:xfrm>
            <a:off x="736600" y="1690688"/>
            <a:ext cx="4163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</a:t>
            </a:r>
            <a:r>
              <a:rPr lang="en-US" baseline="-25000" dirty="0"/>
              <a:t>11</a:t>
            </a:r>
            <a:r>
              <a:rPr lang="en-US" dirty="0"/>
              <a:t>, a</a:t>
            </a:r>
            <a:r>
              <a:rPr lang="en-US" baseline="-25000" dirty="0"/>
              <a:t>12</a:t>
            </a:r>
            <a:r>
              <a:rPr lang="en-US" dirty="0"/>
              <a:t>, a</a:t>
            </a:r>
            <a:r>
              <a:rPr lang="en-US" baseline="-25000" dirty="0"/>
              <a:t>22</a:t>
            </a:r>
            <a:r>
              <a:rPr lang="en-US" dirty="0"/>
              <a:t>) = (65, 60 , 60) a</a:t>
            </a:r>
            <a:r>
              <a:rPr lang="en-US" baseline="-25000" dirty="0"/>
              <a:t>0</a:t>
            </a:r>
          </a:p>
          <a:p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= N</a:t>
            </a:r>
            <a:r>
              <a:rPr lang="en-US" baseline="-25000" dirty="0"/>
              <a:t>2</a:t>
            </a:r>
            <a:r>
              <a:rPr lang="en-US" dirty="0"/>
              <a:t> = 20000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=f</a:t>
            </a:r>
            <a:r>
              <a:rPr lang="en-US" baseline="-25000" dirty="0"/>
              <a:t>z</a:t>
            </a:r>
            <a:r>
              <a:rPr lang="en-US" dirty="0"/>
              <a:t>=150 Hz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E12C3-E5C8-CD2D-C2D7-79ED5DF65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43" y="3016251"/>
            <a:ext cx="3444521" cy="25833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FA04CF-0C6D-242E-A815-E2D42C11E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53" y="3048936"/>
            <a:ext cx="3186790" cy="2390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FF1B93-1354-75AD-CB83-5E9F41E75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946" y="1615684"/>
            <a:ext cx="4163204" cy="364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80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830A-FD66-0B2C-85CF-9F1EE478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Er-Er GPE results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E62A3-3180-3855-7AAE-66F3A9BF2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332" y="2915832"/>
            <a:ext cx="5037916" cy="3421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D75D9-8E7E-CDE0-54A1-7C91076FC2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25"/>
          <a:stretch>
            <a:fillRect/>
          </a:stretch>
        </p:blipFill>
        <p:spPr>
          <a:xfrm>
            <a:off x="380021" y="1834857"/>
            <a:ext cx="5139265" cy="20908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CC923A-CF46-B33B-2199-0647FF554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84" y="4153990"/>
            <a:ext cx="6470149" cy="1025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9B12B4-0666-A317-F962-DA19EB6F3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114" y="5449374"/>
            <a:ext cx="2629078" cy="1025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801EC9-55F4-8D4C-EB02-4591A7773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076" y="0"/>
            <a:ext cx="3444521" cy="2583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C572A-2833-C14B-AEB2-6BE23F703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9286" y="32685"/>
            <a:ext cx="3186790" cy="23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19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81B4-ECEA-9D52-B36B-D5C2B429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for modulated states in Er-Li mixture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F744B8-9B40-7F2B-ACDF-CAB79AE708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Much harder to find modulated ground states than for Er-Er</a:t>
                </a:r>
              </a:p>
              <a:p>
                <a:r>
                  <a:rPr lang="en-US" dirty="0"/>
                  <a:t>Li number seems to be very important</a:t>
                </a:r>
              </a:p>
              <a:p>
                <a:pPr lvl="1"/>
                <a:r>
                  <a:rPr lang="en-US" dirty="0"/>
                  <a:t>Li density is reduced because Li spreads out in trap compared to Er</a:t>
                </a:r>
              </a:p>
              <a:p>
                <a:pPr lvl="1"/>
                <a:r>
                  <a:rPr lang="en-US" dirty="0"/>
                  <a:t>TF radius 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4/5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same scattering length, TF radius for Li increased by factor of 1.7</a:t>
                </a:r>
              </a:p>
              <a:p>
                <a:pPr lvl="1"/>
                <a:r>
                  <a:rPr lang="en-US" dirty="0"/>
                  <a:t>Density decreased by factor of ~5</a:t>
                </a:r>
              </a:p>
              <a:p>
                <a:r>
                  <a:rPr lang="en-US" dirty="0"/>
                  <a:t>Have not seen a benefit from increasing a</a:t>
                </a:r>
                <a:r>
                  <a:rPr lang="en-US" baseline="-25000" dirty="0"/>
                  <a:t>22</a:t>
                </a:r>
                <a:r>
                  <a:rPr lang="en-US" dirty="0"/>
                  <a:t>, likely due to effect on density 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F744B8-9B40-7F2B-ACDF-CAB79AE70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86" t="-2015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861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277D-01B4-9359-9719-DC8FA557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(preliminary)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0589-3CA9-6345-FDF8-8298435EB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596" y="1701866"/>
            <a:ext cx="1662404" cy="5816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=20a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DF711-9A6D-0767-B2B7-D34052D02270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40000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60000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8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7193BB26-4B5A-1943-832F-3004E567C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41376"/>
            <a:ext cx="4946904" cy="3710179"/>
          </a:xfrm>
          <a:prstGeom prst="rect">
            <a:avLst/>
          </a:prstGeom>
        </p:spPr>
      </p:pic>
      <p:pic>
        <p:nvPicPr>
          <p:cNvPr id="8" name="Picture 7" descr="A graph with a red circle&#10;&#10;AI-generated content may be incorrect.">
            <a:extLst>
              <a:ext uri="{FF2B5EF4-FFF2-40B4-BE49-F238E27FC236}">
                <a16:creationId xmlns:a16="http://schemas.microsoft.com/office/drawing/2014/main" id="{1466BDAD-4187-D9A8-4476-3D29548B2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544" y="2141377"/>
            <a:ext cx="4946904" cy="371017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123F-216C-4DBB-6D5E-0FE146CCDEC5}"/>
              </a:ext>
            </a:extLst>
          </p:cNvPr>
          <p:cNvSpPr txBox="1">
            <a:spLocks/>
          </p:cNvSpPr>
          <p:nvPr/>
        </p:nvSpPr>
        <p:spPr>
          <a:xfrm>
            <a:off x="4716625" y="6121367"/>
            <a:ext cx="1662404" cy="58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Miscible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784994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4C3E-19FC-8661-2334-4141E405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0543-95E4-B997-F769-B063C1AD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(preliminary)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6DEAD-9184-5115-AD3C-FE6F168C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596" y="1701866"/>
            <a:ext cx="1662404" cy="5816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=25a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956BD-2968-FAB9-E50A-FB55B90A96DE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40000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60000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8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480B1F-0F25-F4FF-2B83-3DCA1F93EF06}"/>
              </a:ext>
            </a:extLst>
          </p:cNvPr>
          <p:cNvSpPr txBox="1">
            <a:spLocks/>
          </p:cNvSpPr>
          <p:nvPr/>
        </p:nvSpPr>
        <p:spPr>
          <a:xfrm>
            <a:off x="4716625" y="6121367"/>
            <a:ext cx="1662404" cy="58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Miscible</a:t>
            </a:r>
            <a:endParaRPr lang="en-US" baseline="-25000" dirty="0"/>
          </a:p>
        </p:txBody>
      </p:sp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2D1DC0DF-DA93-92F9-588A-27B31B0D7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78044"/>
            <a:ext cx="4945073" cy="3708805"/>
          </a:xfrm>
          <a:prstGeom prst="rect">
            <a:avLst/>
          </a:prstGeom>
        </p:spPr>
      </p:pic>
      <p:pic>
        <p:nvPicPr>
          <p:cNvPr id="11" name="Picture 10" descr="A red circle with black lines&#10;&#10;AI-generated content may be incorrect.">
            <a:extLst>
              <a:ext uri="{FF2B5EF4-FFF2-40B4-BE49-F238E27FC236}">
                <a16:creationId xmlns:a16="http://schemas.microsoft.com/office/drawing/2014/main" id="{CE47D632-10E4-4375-0263-70148D28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956" y="2178044"/>
            <a:ext cx="4945073" cy="370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94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6D94-ABF8-816B-B876-193C987A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6FA2-2CCA-6459-2016-1A3FFE8A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(preliminary)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2A54-5652-892A-100E-E74E99E2D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596" y="1701866"/>
            <a:ext cx="1662404" cy="5816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=31a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40E82-FC87-DAA7-22AB-E3E6A3FF9FE1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40000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60000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8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pic>
        <p:nvPicPr>
          <p:cNvPr id="10" name="Picture 9" descr="A graph of a red circle&#10;&#10;AI-generated content may be incorrect.">
            <a:extLst>
              <a:ext uri="{FF2B5EF4-FFF2-40B4-BE49-F238E27FC236}">
                <a16:creationId xmlns:a16="http://schemas.microsoft.com/office/drawing/2014/main" id="{594BD612-2693-8796-85D9-487368FD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63" y="2960125"/>
            <a:ext cx="4114800" cy="3086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3CE2C3FD-F5B0-568A-32E1-EE2E0B75BE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84631" y="2439216"/>
                <a:ext cx="3578807" cy="5816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300.03ℏ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3CE2C3FD-F5B0-568A-32E1-EE2E0B75B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31" y="2439216"/>
                <a:ext cx="3578807" cy="581673"/>
              </a:xfrm>
              <a:prstGeom prst="rect">
                <a:avLst/>
              </a:prstGeom>
              <a:blipFill>
                <a:blip r:embed="rId3"/>
                <a:stretch>
                  <a:fillRect t="-6383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7B8A98C-6817-1735-6669-180AFBE603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48669" y="2439217"/>
                <a:ext cx="3578807" cy="5816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300.03ℏ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7B8A98C-6817-1735-6669-180AFBE60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669" y="2439217"/>
                <a:ext cx="3578807" cy="581673"/>
              </a:xfrm>
              <a:prstGeom prst="rect">
                <a:avLst/>
              </a:prstGeom>
              <a:blipFill>
                <a:blip r:embed="rId4"/>
                <a:stretch>
                  <a:fillRect t="-6383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6163E5A-0ACA-E128-F601-CDECC5243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5382" y="2960125"/>
            <a:ext cx="4114800" cy="3086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CF63F9D2-4A3A-AB0E-2646-CBFABF5023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24" y="2439217"/>
                <a:ext cx="3578807" cy="5816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300.16ℏ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CF63F9D2-4A3A-AB0E-2646-CBFABF502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4" y="2439217"/>
                <a:ext cx="3578807" cy="581673"/>
              </a:xfrm>
              <a:prstGeom prst="rect">
                <a:avLst/>
              </a:prstGeom>
              <a:blipFill>
                <a:blip r:embed="rId6"/>
                <a:stretch>
                  <a:fillRect t="-6383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114026CF-6AE1-D9AD-A774-E24B10BC0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2960125"/>
            <a:ext cx="41148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21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8704-AC87-D4C2-5C32-87D65DAB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2B10-A1DC-D834-2B78-C6975B30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(preliminary)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8224-0ACC-1A0D-2BF3-A1F8FA0AA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596" y="1701866"/>
            <a:ext cx="1662404" cy="5816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=36a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A814C-7A3E-C5E0-F4F8-2D74B488322D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40000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60000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8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F47FDC-340D-91D2-DB81-2F5F91121E97}"/>
              </a:ext>
            </a:extLst>
          </p:cNvPr>
          <p:cNvGrpSpPr/>
          <p:nvPr/>
        </p:nvGrpSpPr>
        <p:grpSpPr>
          <a:xfrm>
            <a:off x="635160" y="2448939"/>
            <a:ext cx="10921680" cy="4409061"/>
            <a:chOff x="1000920" y="2291381"/>
            <a:chExt cx="10921680" cy="44090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D80337-C6E3-3E5F-CCF7-54954868C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20" y="2448482"/>
              <a:ext cx="5669280" cy="425195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2B25634-3CDC-7A89-BEA2-3221307AB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3320" y="2448482"/>
              <a:ext cx="5669280" cy="4251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6774A5BB-3793-56DF-2790-8946E8365F4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37717" y="2291381"/>
                  <a:ext cx="3578807" cy="58167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301.39ℏ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6774A5BB-3793-56DF-2790-8946E8365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717" y="2291381"/>
                  <a:ext cx="3578807" cy="581673"/>
                </a:xfrm>
                <a:prstGeom prst="rect">
                  <a:avLst/>
                </a:prstGeom>
                <a:blipFill>
                  <a:blip r:embed="rId4"/>
                  <a:stretch>
                    <a:fillRect t="-4255" b="-4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D41D984B-EC5C-8CC6-6BB7-A7826C2F04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57956" y="2291381"/>
                  <a:ext cx="3578807" cy="58167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301.34ℏ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D41D984B-EC5C-8CC6-6BB7-A7826C2F0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7956" y="2291381"/>
                  <a:ext cx="3578807" cy="581673"/>
                </a:xfrm>
                <a:prstGeom prst="rect">
                  <a:avLst/>
                </a:prstGeom>
                <a:blipFill>
                  <a:blip r:embed="rId5"/>
                  <a:stretch>
                    <a:fillRect t="-4255" b="-4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1705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6B80-61F3-ACF7-2880-2E1B7AC6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FCA3-52EA-0A7B-4E69-D83ED374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(preliminary)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D8BA-B8D4-A335-297B-498F75922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596" y="1701866"/>
            <a:ext cx="1662404" cy="5816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=42a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DF819-097C-9471-33F5-232B4841AB90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40000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60000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8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44590E-AF53-1C87-272D-49597B745198}"/>
              </a:ext>
            </a:extLst>
          </p:cNvPr>
          <p:cNvGrpSpPr/>
          <p:nvPr/>
        </p:nvGrpSpPr>
        <p:grpSpPr>
          <a:xfrm>
            <a:off x="595319" y="2417455"/>
            <a:ext cx="11001362" cy="4314014"/>
            <a:chOff x="771279" y="2487454"/>
            <a:chExt cx="11001362" cy="43140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EBFC44E-1B22-616B-35F0-A068552B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279" y="2543987"/>
              <a:ext cx="5676640" cy="425748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ECE91B-E8D3-B2DA-67FB-5C116C9DF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543987"/>
              <a:ext cx="5676641" cy="425748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307462A9-C999-F50C-6C22-7601D8E508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20195" y="2487454"/>
                  <a:ext cx="3578807" cy="58167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302.10ℏ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307462A9-C999-F50C-6C22-7601D8E50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195" y="2487454"/>
                  <a:ext cx="3578807" cy="581673"/>
                </a:xfrm>
                <a:prstGeom prst="rect">
                  <a:avLst/>
                </a:prstGeom>
                <a:blipFill>
                  <a:blip r:embed="rId4"/>
                  <a:stretch>
                    <a:fillRect t="-4255"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196F588A-5E3B-715A-623C-9B45CA4D92E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44916" y="2487455"/>
                  <a:ext cx="3578807" cy="58167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302.79ℏ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196F588A-5E3B-715A-623C-9B45CA4D9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4916" y="2487455"/>
                  <a:ext cx="3578807" cy="581673"/>
                </a:xfrm>
                <a:prstGeom prst="rect">
                  <a:avLst/>
                </a:prstGeom>
                <a:blipFill>
                  <a:blip r:embed="rId5"/>
                  <a:stretch>
                    <a:fillRect t="-4255"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14026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9C81-43E8-90BB-879E-F4572FC1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DDAE-05F1-505A-A1B5-249C0FE2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(very preliminary)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E9B5-3F34-C66E-4707-AD2B9ABF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804353"/>
            <a:ext cx="1662404" cy="5816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=25a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3F6F-8F66-BA06-C94B-8EF8F30B7EA2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20000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40000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6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F7057F-1B53-E27A-3762-9A64DCE090CF}"/>
              </a:ext>
            </a:extLst>
          </p:cNvPr>
          <p:cNvSpPr txBox="1">
            <a:spLocks/>
          </p:cNvSpPr>
          <p:nvPr/>
        </p:nvSpPr>
        <p:spPr>
          <a:xfrm>
            <a:off x="3248026" y="1804353"/>
            <a:ext cx="1662404" cy="58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=31a</a:t>
            </a:r>
            <a:r>
              <a:rPr lang="en-US" baseline="-25000" dirty="0"/>
              <a:t>0</a:t>
            </a:r>
          </a:p>
        </p:txBody>
      </p:sp>
      <p:pic>
        <p:nvPicPr>
          <p:cNvPr id="9" name="Picture 8" descr="A graph of a red and blue line&#10;&#10;AI-generated content may be incorrect.">
            <a:extLst>
              <a:ext uri="{FF2B5EF4-FFF2-40B4-BE49-F238E27FC236}">
                <a16:creationId xmlns:a16="http://schemas.microsoft.com/office/drawing/2014/main" id="{C5FE9E64-3660-0B99-E22F-58B8A317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6" y="4471975"/>
            <a:ext cx="2921000" cy="2190750"/>
          </a:xfrm>
          <a:prstGeom prst="rect">
            <a:avLst/>
          </a:prstGeom>
        </p:spPr>
      </p:pic>
      <p:pic>
        <p:nvPicPr>
          <p:cNvPr id="12" name="Picture 11" descr="A red circle with black lines&#10;&#10;AI-generated content may be incorrect.">
            <a:extLst>
              <a:ext uri="{FF2B5EF4-FFF2-40B4-BE49-F238E27FC236}">
                <a16:creationId xmlns:a16="http://schemas.microsoft.com/office/drawing/2014/main" id="{09A35229-A7C8-9727-48FA-2965502BF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6" y="2281225"/>
            <a:ext cx="2921000" cy="2190750"/>
          </a:xfrm>
          <a:prstGeom prst="rect">
            <a:avLst/>
          </a:prstGeom>
        </p:spPr>
      </p:pic>
      <p:pic>
        <p:nvPicPr>
          <p:cNvPr id="14" name="Picture 13" descr="A graph with a red circle&#10;&#10;AI-generated content may be incorrect.">
            <a:extLst>
              <a:ext uri="{FF2B5EF4-FFF2-40B4-BE49-F238E27FC236}">
                <a16:creationId xmlns:a16="http://schemas.microsoft.com/office/drawing/2014/main" id="{1F8FF14C-08CD-731F-5B89-0A3663462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2281225"/>
            <a:ext cx="2921000" cy="2190750"/>
          </a:xfrm>
          <a:prstGeom prst="rect">
            <a:avLst/>
          </a:prstGeom>
        </p:spPr>
      </p:pic>
      <p:pic>
        <p:nvPicPr>
          <p:cNvPr id="17" name="Picture 16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03312C9E-C61B-8E26-53C2-11903B4E1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467" y="4471975"/>
            <a:ext cx="2921000" cy="2190750"/>
          </a:xfrm>
          <a:prstGeom prst="rect">
            <a:avLst/>
          </a:prstGeom>
        </p:spPr>
      </p:pic>
      <p:pic>
        <p:nvPicPr>
          <p:cNvPr id="19" name="Picture 18" descr="A graph of a graph&#10;&#10;AI-generated content may be incorrect.">
            <a:extLst>
              <a:ext uri="{FF2B5EF4-FFF2-40B4-BE49-F238E27FC236}">
                <a16:creationId xmlns:a16="http://schemas.microsoft.com/office/drawing/2014/main" id="{17A581B2-F71A-53CE-6E6F-7222DD864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471975"/>
            <a:ext cx="2921000" cy="2190750"/>
          </a:xfrm>
          <a:prstGeom prst="rect">
            <a:avLst/>
          </a:prstGeom>
        </p:spPr>
      </p:pic>
      <p:pic>
        <p:nvPicPr>
          <p:cNvPr id="21" name="Picture 20" descr="A graph with a red circle&#10;&#10;AI-generated content may be incorrect.">
            <a:extLst>
              <a:ext uri="{FF2B5EF4-FFF2-40B4-BE49-F238E27FC236}">
                <a16:creationId xmlns:a16="http://schemas.microsoft.com/office/drawing/2014/main" id="{D4B9CE35-A2A9-58DE-55F4-9D188AC58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81225"/>
            <a:ext cx="2921000" cy="2190750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980714-CDA5-6225-1413-111899479703}"/>
              </a:ext>
            </a:extLst>
          </p:cNvPr>
          <p:cNvSpPr txBox="1">
            <a:spLocks/>
          </p:cNvSpPr>
          <p:nvPr/>
        </p:nvSpPr>
        <p:spPr>
          <a:xfrm>
            <a:off x="6057902" y="1804352"/>
            <a:ext cx="1662404" cy="58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=36a</a:t>
            </a:r>
            <a:r>
              <a:rPr lang="en-US" baseline="-25000" dirty="0"/>
              <a:t>0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67FEA32-4B43-6CFE-D43A-FA19D33690B3}"/>
              </a:ext>
            </a:extLst>
          </p:cNvPr>
          <p:cNvSpPr txBox="1">
            <a:spLocks/>
          </p:cNvSpPr>
          <p:nvPr/>
        </p:nvSpPr>
        <p:spPr>
          <a:xfrm>
            <a:off x="9017000" y="1804351"/>
            <a:ext cx="1662404" cy="58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=42a</a:t>
            </a:r>
            <a:r>
              <a:rPr lang="en-US" baseline="-25000" dirty="0"/>
              <a:t>0</a:t>
            </a:r>
          </a:p>
        </p:txBody>
      </p:sp>
      <p:pic>
        <p:nvPicPr>
          <p:cNvPr id="25" name="Picture 24" descr="A graph of a graph&#10;&#10;AI-generated content may be incorrect.">
            <a:extLst>
              <a:ext uri="{FF2B5EF4-FFF2-40B4-BE49-F238E27FC236}">
                <a16:creationId xmlns:a16="http://schemas.microsoft.com/office/drawing/2014/main" id="{ED30E949-1620-48B1-2FAE-5ACE1BB7D3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3973" y="4471975"/>
            <a:ext cx="2920999" cy="2190749"/>
          </a:xfrm>
          <a:prstGeom prst="rect">
            <a:avLst/>
          </a:prstGeom>
        </p:spPr>
      </p:pic>
      <p:pic>
        <p:nvPicPr>
          <p:cNvPr id="27" name="Picture 26" descr="A graph showing a red circle&#10;&#10;AI-generated content may be incorrect.">
            <a:extLst>
              <a:ext uri="{FF2B5EF4-FFF2-40B4-BE49-F238E27FC236}">
                <a16:creationId xmlns:a16="http://schemas.microsoft.com/office/drawing/2014/main" id="{27CDC584-B09A-E582-72AB-B656A51499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3974" y="2281225"/>
            <a:ext cx="2920999" cy="219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81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CBF8B-6A7A-48C6-9116-3CC47515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2F0E-7867-623D-E652-FB6BE090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Er-Li modulated states (very preliminary)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2DC3E-C505-56F4-5667-C8A7A3FA5CDA}"/>
              </a:ext>
            </a:extLst>
          </p:cNvPr>
          <p:cNvSpPr txBox="1"/>
          <p:nvPr/>
        </p:nvSpPr>
        <p:spPr>
          <a:xfrm>
            <a:off x="10336763" y="213360"/>
            <a:ext cx="3153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Er</a:t>
            </a:r>
            <a:r>
              <a:rPr lang="en-US" dirty="0"/>
              <a:t> = 20000</a:t>
            </a:r>
          </a:p>
          <a:p>
            <a:r>
              <a:rPr lang="en-US" dirty="0"/>
              <a:t>N</a:t>
            </a:r>
            <a:r>
              <a:rPr lang="en-US" baseline="-25000" dirty="0"/>
              <a:t>Li</a:t>
            </a:r>
            <a:r>
              <a:rPr lang="en-US" dirty="0"/>
              <a:t> = 40000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 = 6 Hz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r>
              <a:rPr lang="en-US" dirty="0"/>
              <a:t> = f</a:t>
            </a:r>
            <a:r>
              <a:rPr lang="en-US" baseline="-25000" dirty="0"/>
              <a:t>z</a:t>
            </a:r>
            <a:r>
              <a:rPr lang="en-US" dirty="0"/>
              <a:t> = 150 Hz</a:t>
            </a:r>
          </a:p>
          <a:p>
            <a:r>
              <a:rPr lang="en-US" dirty="0"/>
              <a:t>a</a:t>
            </a:r>
            <a:r>
              <a:rPr lang="en-US" baseline="-25000" dirty="0"/>
              <a:t>11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 = 65a</a:t>
            </a:r>
            <a:r>
              <a:rPr lang="en-US" baseline="-25000" dirty="0"/>
              <a:t>0</a:t>
            </a:r>
          </a:p>
        </p:txBody>
      </p:sp>
      <p:pic>
        <p:nvPicPr>
          <p:cNvPr id="14" name="Picture 13" descr="A graph with a red circle&#10;&#10;AI-generated content may be incorrect.">
            <a:extLst>
              <a:ext uri="{FF2B5EF4-FFF2-40B4-BE49-F238E27FC236}">
                <a16:creationId xmlns:a16="http://schemas.microsoft.com/office/drawing/2014/main" id="{E426757A-59E6-05B1-A2BC-73E9498A5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88" y="1761547"/>
            <a:ext cx="5398320" cy="4048740"/>
          </a:xfrm>
          <a:prstGeom prst="rect">
            <a:avLst/>
          </a:prstGeom>
        </p:spPr>
      </p:pic>
      <p:pic>
        <p:nvPicPr>
          <p:cNvPr id="17" name="Picture 16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3EF9C660-EA6E-576F-E026-0E7F1B8A5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1547"/>
            <a:ext cx="5398320" cy="4048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AA8D2B-F578-CD89-2E72-F8A96B02E387}"/>
              </a:ext>
            </a:extLst>
          </p:cNvPr>
          <p:cNvSpPr txBox="1"/>
          <p:nvPr/>
        </p:nvSpPr>
        <p:spPr>
          <a:xfrm>
            <a:off x="3766789" y="5810287"/>
            <a:ext cx="5189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baseline="-25000" dirty="0"/>
              <a:t>1</a:t>
            </a:r>
            <a:r>
              <a:rPr lang="en-US" sz="2800" dirty="0"/>
              <a:t> = 0.9, fs</a:t>
            </a:r>
            <a:r>
              <a:rPr lang="en-US" sz="2800" baseline="-25000" dirty="0"/>
              <a:t>1</a:t>
            </a:r>
            <a:r>
              <a:rPr lang="en-US" sz="2800" dirty="0"/>
              <a:t> = 0.26, fs</a:t>
            </a:r>
            <a:r>
              <a:rPr lang="en-US" sz="2800" baseline="-25000" dirty="0"/>
              <a:t>2</a:t>
            </a:r>
            <a:r>
              <a:rPr lang="en-US" sz="2800" dirty="0"/>
              <a:t> = 0.92</a:t>
            </a:r>
          </a:p>
          <a:p>
            <a:r>
              <a:rPr lang="en-US" sz="2800" dirty="0"/>
              <a:t>Peak density: 5 x 10</a:t>
            </a:r>
            <a:r>
              <a:rPr lang="en-US" sz="2800" baseline="30000" dirty="0"/>
              <a:t>20</a:t>
            </a:r>
            <a:r>
              <a:rPr lang="en-US" sz="2800" dirty="0"/>
              <a:t> m</a:t>
            </a:r>
            <a:r>
              <a:rPr lang="en-US" sz="2800" baseline="30000" dirty="0"/>
              <a:t>-3</a:t>
            </a:r>
            <a:endParaRPr lang="en-US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425996-EB21-D452-64AC-01CA6682AA62}"/>
              </a:ext>
            </a:extLst>
          </p:cNvPr>
          <p:cNvSpPr txBox="1">
            <a:spLocks/>
          </p:cNvSpPr>
          <p:nvPr/>
        </p:nvSpPr>
        <p:spPr>
          <a:xfrm>
            <a:off x="5204151" y="1551616"/>
            <a:ext cx="1662404" cy="58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</a:t>
            </a:r>
            <a:r>
              <a:rPr lang="en-US" baseline="-25000" dirty="0"/>
              <a:t>12</a:t>
            </a:r>
            <a:r>
              <a:rPr lang="en-US" dirty="0"/>
              <a:t>=31a</a:t>
            </a:r>
            <a:r>
              <a:rPr lang="en-US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47613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9BB8-B28D-5766-382B-5CA6980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42E6-F9B7-B746-3CF0-A4B52EEF3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Continued simulations of Er-Li in harmonic trap</a:t>
            </a:r>
          </a:p>
          <a:p>
            <a:pPr lvl="1"/>
            <a:r>
              <a:rPr lang="en-US" dirty="0"/>
              <a:t>Convergence testing</a:t>
            </a:r>
          </a:p>
          <a:p>
            <a:pPr lvl="1"/>
            <a:r>
              <a:rPr lang="en-US" dirty="0"/>
              <a:t>Narrower scans to look for SS-SS phases</a:t>
            </a:r>
          </a:p>
          <a:p>
            <a:pPr lvl="1"/>
            <a:r>
              <a:rPr lang="en-US" dirty="0"/>
              <a:t>Increased a</a:t>
            </a:r>
            <a:r>
              <a:rPr lang="en-US" baseline="-25000" dirty="0"/>
              <a:t>11</a:t>
            </a:r>
          </a:p>
          <a:p>
            <a:pPr lvl="1"/>
            <a:r>
              <a:rPr lang="en-US" dirty="0"/>
              <a:t>Wider range of trap parameters</a:t>
            </a:r>
            <a:endParaRPr lang="en-US" baseline="-25000" dirty="0"/>
          </a:p>
          <a:p>
            <a:r>
              <a:rPr lang="en-US" dirty="0"/>
              <a:t>Real time simulations with three-body loss</a:t>
            </a:r>
          </a:p>
          <a:p>
            <a:r>
              <a:rPr lang="en-US" dirty="0"/>
              <a:t>Simulations in box trap</a:t>
            </a:r>
          </a:p>
          <a:p>
            <a:r>
              <a:rPr lang="en-US" dirty="0"/>
              <a:t>Suggestions?</a:t>
            </a:r>
          </a:p>
        </p:txBody>
      </p:sp>
    </p:spTree>
    <p:extLst>
      <p:ext uri="{BB962C8B-B14F-4D97-AF65-F5344CB8AC3E}">
        <p14:creationId xmlns:p14="http://schemas.microsoft.com/office/powerpoint/2010/main" val="2044779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303B-21F2-A432-0A55-EA5CDCDD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F0F8-60A8-38F1-540C-26AF6A242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[1] Bland, Thomas, et al. "Two-dimensional </a:t>
            </a:r>
            <a:r>
              <a:rPr lang="en-US" sz="2400" dirty="0" err="1"/>
              <a:t>supersolid</a:t>
            </a:r>
            <a:r>
              <a:rPr lang="en-US" sz="2400" dirty="0"/>
              <a:t> formation in dipolar condensates." </a:t>
            </a:r>
            <a:r>
              <a:rPr lang="en-US" sz="2400" i="1" dirty="0"/>
              <a:t>Physical Review Letters</a:t>
            </a:r>
            <a:r>
              <a:rPr lang="en-US" sz="2400" dirty="0"/>
              <a:t> 128.19 (2022): 195302.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[2] </a:t>
            </a:r>
            <a:r>
              <a:rPr lang="en-US" sz="2400" dirty="0" err="1"/>
              <a:t>Hertkorn</a:t>
            </a:r>
            <a:r>
              <a:rPr lang="en-US" sz="2400" dirty="0"/>
              <a:t>, Jens. </a:t>
            </a:r>
            <a:r>
              <a:rPr lang="en-US" sz="2400" i="1" dirty="0"/>
              <a:t>Self-organized structures and excitations in dipolar quantum fluids</a:t>
            </a:r>
            <a:r>
              <a:rPr lang="en-US" sz="2400" dirty="0"/>
              <a:t>. Dissertation, Universität Stuttgart, 2024.</a:t>
            </a:r>
          </a:p>
          <a:p>
            <a:pPr marL="0" indent="0">
              <a:buNone/>
            </a:pPr>
            <a:r>
              <a:rPr lang="en-US" sz="2400" dirty="0"/>
              <a:t>[3] </a:t>
            </a:r>
            <a:r>
              <a:rPr lang="en-US" sz="2400" dirty="0" err="1"/>
              <a:t>Chomaz</a:t>
            </a:r>
            <a:r>
              <a:rPr lang="en-US" sz="2400" dirty="0"/>
              <a:t>, Lauriane, et al. "Long-lived and transient </a:t>
            </a:r>
            <a:r>
              <a:rPr lang="en-US" sz="2400" dirty="0" err="1"/>
              <a:t>supersolid</a:t>
            </a:r>
            <a:r>
              <a:rPr lang="en-US" sz="2400" dirty="0"/>
              <a:t> behaviors in dipolar quantum gases." </a:t>
            </a:r>
            <a:r>
              <a:rPr lang="en-US" sz="2400" i="1" dirty="0"/>
              <a:t>Physical Review X</a:t>
            </a:r>
            <a:r>
              <a:rPr lang="en-US" sz="2400" dirty="0"/>
              <a:t> 9.2 (2019): 021012.</a:t>
            </a:r>
          </a:p>
          <a:p>
            <a:pPr marL="0" indent="0">
              <a:buNone/>
            </a:pPr>
            <a:r>
              <a:rPr lang="en-US" sz="2400" dirty="0"/>
              <a:t>[4] Bland, Thomas, et al. "Alternating-domain </a:t>
            </a:r>
            <a:r>
              <a:rPr lang="en-US" sz="2400" dirty="0" err="1"/>
              <a:t>supersolids</a:t>
            </a:r>
            <a:r>
              <a:rPr lang="en-US" sz="2400" dirty="0"/>
              <a:t> in binary dipolar condensates." </a:t>
            </a:r>
            <a:r>
              <a:rPr lang="en-US" sz="2400" i="1" dirty="0"/>
              <a:t>Physical Review A</a:t>
            </a:r>
            <a:r>
              <a:rPr lang="en-US" sz="2400" dirty="0"/>
              <a:t> 106.5 (2022): 053322.</a:t>
            </a:r>
          </a:p>
          <a:p>
            <a:pPr marL="0" indent="0">
              <a:buNone/>
            </a:pPr>
            <a:r>
              <a:rPr lang="en-US" sz="2400" dirty="0"/>
              <a:t>[5] Li, </a:t>
            </a:r>
            <a:r>
              <a:rPr lang="en-US" sz="2400" dirty="0" err="1"/>
              <a:t>Shaoxiong</a:t>
            </a:r>
            <a:r>
              <a:rPr lang="en-US" sz="2400" dirty="0"/>
              <a:t>, Uyen Ngoc Le, and Hiroki Saito. "Long-lifetime </a:t>
            </a:r>
            <a:r>
              <a:rPr lang="en-US" sz="2400" dirty="0" err="1"/>
              <a:t>supersolid</a:t>
            </a:r>
            <a:r>
              <a:rPr lang="en-US" sz="2400" dirty="0"/>
              <a:t> in a two-component dipolar Bose-Einstein condensate." </a:t>
            </a:r>
            <a:r>
              <a:rPr lang="en-US" sz="2400" i="1" dirty="0"/>
              <a:t>Physical Review A</a:t>
            </a:r>
            <a:r>
              <a:rPr lang="en-US" sz="2400" dirty="0"/>
              <a:t> 105.6 (2022): L061302.</a:t>
            </a:r>
          </a:p>
          <a:p>
            <a:pPr marL="0" indent="0">
              <a:buNone/>
            </a:pPr>
            <a:r>
              <a:rPr lang="en-US" sz="2400" dirty="0"/>
              <a:t>[6] Wilson, Ryan M., et al. "Roton immiscibility in a two-component dipolar Bose gas." </a:t>
            </a:r>
            <a:r>
              <a:rPr lang="en-US" sz="2400" i="1" dirty="0"/>
              <a:t>Physical Review A </a:t>
            </a:r>
            <a:r>
              <a:rPr lang="en-US" sz="2400" dirty="0"/>
              <a:t>86.3 (2012): 033606.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2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5295</TotalTime>
  <Words>1582</Words>
  <Application>Microsoft Macintosh PowerPoint</Application>
  <PresentationFormat>Widescreen</PresentationFormat>
  <Paragraphs>297</Paragraphs>
  <Slides>40</Slides>
  <Notes>10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Times New Roman</vt:lpstr>
      <vt:lpstr>Office Theme</vt:lpstr>
      <vt:lpstr>Droplets and supersolids in Er and Er-Li condensates</vt:lpstr>
      <vt:lpstr>Overview</vt:lpstr>
      <vt:lpstr>GPE solver</vt:lpstr>
      <vt:lpstr>Using the GPE solver</vt:lpstr>
      <vt:lpstr>Excitations in BEC</vt:lpstr>
      <vt:lpstr>Start with nondipolar BEC in harmonic trap</vt:lpstr>
      <vt:lpstr>Start with nondipolar BEC in harmonic trap</vt:lpstr>
      <vt:lpstr>Add a dipolar term to get a finite-wavelength instability</vt:lpstr>
      <vt:lpstr>Roton instability and LHY stabilization</vt:lpstr>
      <vt:lpstr>GPE: Dy single droplet states</vt:lpstr>
      <vt:lpstr>GPE: Er-166 droplet-supersolid-BEC transition</vt:lpstr>
      <vt:lpstr>Er-166 droplets in our old trap</vt:lpstr>
      <vt:lpstr>Er-166 droplets in our old trap</vt:lpstr>
      <vt:lpstr>Add another species </vt:lpstr>
      <vt:lpstr>Roton immiscibility for uniform 2D mixture</vt:lpstr>
      <vt:lpstr>Miscible-immiscible transition: no dipole</vt:lpstr>
      <vt:lpstr>Miscible-immiscible transition: no dipole</vt:lpstr>
      <vt:lpstr>Miscible-immiscible transition: with dipole</vt:lpstr>
      <vt:lpstr>Miscible -&gt; roton immiscible -&gt; immiscible transition</vt:lpstr>
      <vt:lpstr>Small a11, large a22 favorable</vt:lpstr>
      <vt:lpstr>Mass imbalance narrows roton immiscible region</vt:lpstr>
      <vt:lpstr>Size of roton immiscible region saturates with increasing n2</vt:lpstr>
      <vt:lpstr>Size of roton immiscible region saturates with Li density</vt:lpstr>
      <vt:lpstr>Mixture in harmonic trap: GPE solver</vt:lpstr>
      <vt:lpstr>ADSS paper: Dy-Dy mixture</vt:lpstr>
      <vt:lpstr>ADSS paper: Dy-Dy mixture</vt:lpstr>
      <vt:lpstr>ADSS paper: Dy-Dy mixture</vt:lpstr>
      <vt:lpstr>ADSS paper: Dy-Dy mixture</vt:lpstr>
      <vt:lpstr>ADSS paper: Er-Er spin mixture</vt:lpstr>
      <vt:lpstr>Er-Er GPE results </vt:lpstr>
      <vt:lpstr>Looking for modulated states in Er-Li mixture</vt:lpstr>
      <vt:lpstr>Er-Li modulated states (preliminary)</vt:lpstr>
      <vt:lpstr>Er-Li modulated states (preliminary)</vt:lpstr>
      <vt:lpstr>Er-Li modulated states (preliminary)</vt:lpstr>
      <vt:lpstr>Er-Li modulated states (preliminary)</vt:lpstr>
      <vt:lpstr>Er-Li modulated states (preliminary)</vt:lpstr>
      <vt:lpstr>Er-Li modulated states (very preliminary)</vt:lpstr>
      <vt:lpstr>Er-Li modulated states (very preliminary)</vt:lpstr>
      <vt:lpstr>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32</cp:revision>
  <dcterms:created xsi:type="dcterms:W3CDTF">2026-01-28T18:45:40Z</dcterms:created>
  <dcterms:modified xsi:type="dcterms:W3CDTF">2026-03-31T17:30:19Z</dcterms:modified>
</cp:coreProperties>
</file>